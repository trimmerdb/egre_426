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9816" autoAdjust="0"/>
  </p:normalViewPr>
  <p:slideViewPr>
    <p:cSldViewPr>
      <p:cViewPr>
        <p:scale>
          <a:sx n="200" d="100"/>
          <a:sy n="200" d="100"/>
        </p:scale>
        <p:origin x="160" y="35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6FD35-F9F8-4A42-9A4F-278A7EAB713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B5868-3DDE-41AD-8861-AEC41312CD3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66800" y="152400"/>
            <a:ext cx="740664" cy="932688"/>
            <a:chOff x="1981200" y="1143000"/>
            <a:chExt cx="1028700" cy="1295400"/>
          </a:xfrm>
        </p:grpSpPr>
        <p:sp>
          <p:nvSpPr>
            <p:cNvPr id="6" name="Freeform 5"/>
            <p:cNvSpPr/>
            <p:nvPr/>
          </p:nvSpPr>
          <p:spPr>
            <a:xfrm rot="5400000">
              <a:off x="2038350" y="1466850"/>
              <a:ext cx="1295400" cy="647700"/>
            </a:xfrm>
            <a:custGeom>
              <a:avLst/>
              <a:gdLst>
                <a:gd name="connsiteX0" fmla="*/ -8 w 2971800"/>
                <a:gd name="connsiteY0" fmla="*/ 1764170 h 2743200"/>
                <a:gd name="connsiteX1" fmla="*/ 294299 w 2971800"/>
                <a:gd name="connsiteY1" fmla="*/ 543327 h 2743200"/>
                <a:gd name="connsiteX2" fmla="*/ 1485900 w 2971800"/>
                <a:gd name="connsiteY2" fmla="*/ 0 h 2743200"/>
                <a:gd name="connsiteX3" fmla="*/ 2677501 w 2971800"/>
                <a:gd name="connsiteY3" fmla="*/ 543327 h 2743200"/>
                <a:gd name="connsiteX4" fmla="*/ 2971808 w 2971800"/>
                <a:gd name="connsiteY4" fmla="*/ 1764170 h 2743200"/>
                <a:gd name="connsiteX5" fmla="*/ 2147184 w 2971800"/>
                <a:gd name="connsiteY5" fmla="*/ 2743214 h 2743200"/>
                <a:gd name="connsiteX6" fmla="*/ 824616 w 2971800"/>
                <a:gd name="connsiteY6" fmla="*/ 2743214 h 2743200"/>
                <a:gd name="connsiteX7" fmla="*/ -8 w 2971800"/>
                <a:gd name="connsiteY7" fmla="*/ 1764170 h 2743200"/>
                <a:gd name="connsiteX0" fmla="*/ 0 w 2895608"/>
                <a:gd name="connsiteY0" fmla="*/ 2743200 h 2743214"/>
                <a:gd name="connsiteX1" fmla="*/ 218099 w 2895608"/>
                <a:gd name="connsiteY1" fmla="*/ 543327 h 2743214"/>
                <a:gd name="connsiteX2" fmla="*/ 1409700 w 2895608"/>
                <a:gd name="connsiteY2" fmla="*/ 0 h 2743214"/>
                <a:gd name="connsiteX3" fmla="*/ 2601301 w 2895608"/>
                <a:gd name="connsiteY3" fmla="*/ 543327 h 2743214"/>
                <a:gd name="connsiteX4" fmla="*/ 2895608 w 2895608"/>
                <a:gd name="connsiteY4" fmla="*/ 1764170 h 2743214"/>
                <a:gd name="connsiteX5" fmla="*/ 2070984 w 2895608"/>
                <a:gd name="connsiteY5" fmla="*/ 2743214 h 2743214"/>
                <a:gd name="connsiteX6" fmla="*/ 748416 w 2895608"/>
                <a:gd name="connsiteY6" fmla="*/ 2743214 h 2743214"/>
                <a:gd name="connsiteX7" fmla="*/ 0 w 2895608"/>
                <a:gd name="connsiteY7" fmla="*/ 2743200 h 2743214"/>
                <a:gd name="connsiteX0" fmla="*/ 0 w 2895600"/>
                <a:gd name="connsiteY0" fmla="*/ 2743200 h 2743214"/>
                <a:gd name="connsiteX1" fmla="*/ 218099 w 2895600"/>
                <a:gd name="connsiteY1" fmla="*/ 543327 h 2743214"/>
                <a:gd name="connsiteX2" fmla="*/ 1409700 w 2895600"/>
                <a:gd name="connsiteY2" fmla="*/ 0 h 2743214"/>
                <a:gd name="connsiteX3" fmla="*/ 2601301 w 2895600"/>
                <a:gd name="connsiteY3" fmla="*/ 543327 h 2743214"/>
                <a:gd name="connsiteX4" fmla="*/ 2895600 w 2895600"/>
                <a:gd name="connsiteY4" fmla="*/ 2743200 h 2743214"/>
                <a:gd name="connsiteX5" fmla="*/ 2070984 w 2895600"/>
                <a:gd name="connsiteY5" fmla="*/ 2743214 h 2743214"/>
                <a:gd name="connsiteX6" fmla="*/ 748416 w 2895600"/>
                <a:gd name="connsiteY6" fmla="*/ 2743214 h 2743214"/>
                <a:gd name="connsiteX7" fmla="*/ 0 w 2895600"/>
                <a:gd name="connsiteY7" fmla="*/ 2743200 h 2743214"/>
                <a:gd name="connsiteX0" fmla="*/ 0 w 2895600"/>
                <a:gd name="connsiteY0" fmla="*/ 2743200 h 2743214"/>
                <a:gd name="connsiteX1" fmla="*/ 218099 w 2895600"/>
                <a:gd name="connsiteY1" fmla="*/ 543327 h 2743214"/>
                <a:gd name="connsiteX2" fmla="*/ 1409700 w 2895600"/>
                <a:gd name="connsiteY2" fmla="*/ 0 h 2743214"/>
                <a:gd name="connsiteX3" fmla="*/ 2601301 w 2895600"/>
                <a:gd name="connsiteY3" fmla="*/ 543327 h 2743214"/>
                <a:gd name="connsiteX4" fmla="*/ 2895600 w 2895600"/>
                <a:gd name="connsiteY4" fmla="*/ 2743200 h 2743214"/>
                <a:gd name="connsiteX5" fmla="*/ 2070984 w 2895600"/>
                <a:gd name="connsiteY5" fmla="*/ 2743214 h 2743214"/>
                <a:gd name="connsiteX6" fmla="*/ 1219200 w 2895600"/>
                <a:gd name="connsiteY6" fmla="*/ 2300748 h 2743214"/>
                <a:gd name="connsiteX7" fmla="*/ 0 w 2895600"/>
                <a:gd name="connsiteY7" fmla="*/ 2743200 h 2743214"/>
                <a:gd name="connsiteX0" fmla="*/ 0 w 2895600"/>
                <a:gd name="connsiteY0" fmla="*/ 2743200 h 2743200"/>
                <a:gd name="connsiteX1" fmla="*/ 218099 w 2895600"/>
                <a:gd name="connsiteY1" fmla="*/ 543327 h 2743200"/>
                <a:gd name="connsiteX2" fmla="*/ 1409700 w 2895600"/>
                <a:gd name="connsiteY2" fmla="*/ 0 h 2743200"/>
                <a:gd name="connsiteX3" fmla="*/ 2601301 w 2895600"/>
                <a:gd name="connsiteY3" fmla="*/ 543327 h 2743200"/>
                <a:gd name="connsiteX4" fmla="*/ 2895600 w 2895600"/>
                <a:gd name="connsiteY4" fmla="*/ 2743200 h 2743200"/>
                <a:gd name="connsiteX5" fmla="*/ 1828800 w 2895600"/>
                <a:gd name="connsiteY5" fmla="*/ 2300748 h 2743200"/>
                <a:gd name="connsiteX6" fmla="*/ 1219200 w 2895600"/>
                <a:gd name="connsiteY6" fmla="*/ 2300748 h 2743200"/>
                <a:gd name="connsiteX7" fmla="*/ 0 w 2895600"/>
                <a:gd name="connsiteY7" fmla="*/ 2743200 h 2743200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01301 w 2895600"/>
                <a:gd name="connsiteY3" fmla="*/ 12385 h 2212258"/>
                <a:gd name="connsiteX4" fmla="*/ 2895600 w 2895600"/>
                <a:gd name="connsiteY4" fmla="*/ 2212258 h 2212258"/>
                <a:gd name="connsiteX5" fmla="*/ 1828800 w 2895600"/>
                <a:gd name="connsiteY5" fmla="*/ 1769806 h 2212258"/>
                <a:gd name="connsiteX6" fmla="*/ 12192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828800 w 2895600"/>
                <a:gd name="connsiteY5" fmla="*/ 1769806 h 2212258"/>
                <a:gd name="connsiteX6" fmla="*/ 12192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828800 w 2895600"/>
                <a:gd name="connsiteY5" fmla="*/ 1769806 h 2212258"/>
                <a:gd name="connsiteX6" fmla="*/ 9144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295400 w 2895600"/>
                <a:gd name="connsiteY5" fmla="*/ 1769806 h 2212258"/>
                <a:gd name="connsiteX6" fmla="*/ 9144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295400 w 2895600"/>
                <a:gd name="connsiteY5" fmla="*/ 1769806 h 2212258"/>
                <a:gd name="connsiteX6" fmla="*/ 914400 w 2895600"/>
                <a:gd name="connsiteY6" fmla="*/ 2212258 h 2212258"/>
                <a:gd name="connsiteX7" fmla="*/ 0 w 2895600"/>
                <a:gd name="connsiteY7" fmla="*/ 2212258 h 2212258"/>
                <a:gd name="connsiteX0" fmla="*/ 0 w 2667000"/>
                <a:gd name="connsiteY0" fmla="*/ 2212258 h 2212258"/>
                <a:gd name="connsiteX1" fmla="*/ 218099 w 2667000"/>
                <a:gd name="connsiteY1" fmla="*/ 12385 h 2212258"/>
                <a:gd name="connsiteX2" fmla="*/ 2286000 w 2667000"/>
                <a:gd name="connsiteY2" fmla="*/ 0 h 2212258"/>
                <a:gd name="connsiteX3" fmla="*/ 2667000 w 2667000"/>
                <a:gd name="connsiteY3" fmla="*/ 1415845 h 2212258"/>
                <a:gd name="connsiteX4" fmla="*/ 1600200 w 2667000"/>
                <a:gd name="connsiteY4" fmla="*/ 2212258 h 2212258"/>
                <a:gd name="connsiteX5" fmla="*/ 1295400 w 2667000"/>
                <a:gd name="connsiteY5" fmla="*/ 1769806 h 2212258"/>
                <a:gd name="connsiteX6" fmla="*/ 914400 w 2667000"/>
                <a:gd name="connsiteY6" fmla="*/ 2212258 h 2212258"/>
                <a:gd name="connsiteX7" fmla="*/ 0 w 2667000"/>
                <a:gd name="connsiteY7" fmla="*/ 2212258 h 2212258"/>
                <a:gd name="connsiteX0" fmla="*/ 0 w 2667000"/>
                <a:gd name="connsiteY0" fmla="*/ 2212258 h 2212258"/>
                <a:gd name="connsiteX1" fmla="*/ 218099 w 2667000"/>
                <a:gd name="connsiteY1" fmla="*/ 12385 h 2212258"/>
                <a:gd name="connsiteX2" fmla="*/ 2286000 w 2667000"/>
                <a:gd name="connsiteY2" fmla="*/ 0 h 2212258"/>
                <a:gd name="connsiteX3" fmla="*/ 2667000 w 2667000"/>
                <a:gd name="connsiteY3" fmla="*/ 2212258 h 2212258"/>
                <a:gd name="connsiteX4" fmla="*/ 1600200 w 2667000"/>
                <a:gd name="connsiteY4" fmla="*/ 2212258 h 2212258"/>
                <a:gd name="connsiteX5" fmla="*/ 1295400 w 2667000"/>
                <a:gd name="connsiteY5" fmla="*/ 1769806 h 2212258"/>
                <a:gd name="connsiteX6" fmla="*/ 914400 w 2667000"/>
                <a:gd name="connsiteY6" fmla="*/ 2212258 h 2212258"/>
                <a:gd name="connsiteX7" fmla="*/ 0 w 2667000"/>
                <a:gd name="connsiteY7" fmla="*/ 2212258 h 2212258"/>
                <a:gd name="connsiteX0" fmla="*/ 0 w 2667000"/>
                <a:gd name="connsiteY0" fmla="*/ 2212258 h 2212258"/>
                <a:gd name="connsiteX1" fmla="*/ 457200 w 2667000"/>
                <a:gd name="connsiteY1" fmla="*/ 884903 h 2212258"/>
                <a:gd name="connsiteX2" fmla="*/ 2286000 w 2667000"/>
                <a:gd name="connsiteY2" fmla="*/ 0 h 2212258"/>
                <a:gd name="connsiteX3" fmla="*/ 2667000 w 2667000"/>
                <a:gd name="connsiteY3" fmla="*/ 2212258 h 2212258"/>
                <a:gd name="connsiteX4" fmla="*/ 1600200 w 2667000"/>
                <a:gd name="connsiteY4" fmla="*/ 2212258 h 2212258"/>
                <a:gd name="connsiteX5" fmla="*/ 1295400 w 2667000"/>
                <a:gd name="connsiteY5" fmla="*/ 1769806 h 2212258"/>
                <a:gd name="connsiteX6" fmla="*/ 914400 w 2667000"/>
                <a:gd name="connsiteY6" fmla="*/ 2212258 h 2212258"/>
                <a:gd name="connsiteX7" fmla="*/ 0 w 2667000"/>
                <a:gd name="connsiteY7" fmla="*/ 2212258 h 2212258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1295400 w 2667000"/>
                <a:gd name="connsiteY5" fmla="*/ 884903 h 1327355"/>
                <a:gd name="connsiteX6" fmla="*/ 9144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1295400 w 2667000"/>
                <a:gd name="connsiteY5" fmla="*/ 884903 h 1327355"/>
                <a:gd name="connsiteX6" fmla="*/ 6096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914400 w 2667000"/>
                <a:gd name="connsiteY5" fmla="*/ 884903 h 1327355"/>
                <a:gd name="connsiteX6" fmla="*/ 6096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914400 w 2667000"/>
                <a:gd name="connsiteY5" fmla="*/ 1150374 h 1327355"/>
                <a:gd name="connsiteX6" fmla="*/ 6096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914400 w 2667000"/>
                <a:gd name="connsiteY5" fmla="*/ 1150374 h 1327355"/>
                <a:gd name="connsiteX6" fmla="*/ 7620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066800 w 2667000"/>
                <a:gd name="connsiteY4" fmla="*/ 1327355 h 1327355"/>
                <a:gd name="connsiteX5" fmla="*/ 914400 w 2667000"/>
                <a:gd name="connsiteY5" fmla="*/ 1150374 h 1327355"/>
                <a:gd name="connsiteX6" fmla="*/ 762000 w 2667000"/>
                <a:gd name="connsiteY6" fmla="*/ 1327355 h 1327355"/>
                <a:gd name="connsiteX7" fmla="*/ 0 w 2667000"/>
                <a:gd name="connsiteY7" fmla="*/ 1327355 h 1327355"/>
                <a:gd name="connsiteX0" fmla="*/ 0 w 2133600"/>
                <a:gd name="connsiteY0" fmla="*/ 1327355 h 1327355"/>
                <a:gd name="connsiteX1" fmla="*/ 457200 w 2133600"/>
                <a:gd name="connsiteY1" fmla="*/ 0 h 1327355"/>
                <a:gd name="connsiteX2" fmla="*/ 2133600 w 2133600"/>
                <a:gd name="connsiteY2" fmla="*/ 0 h 1327355"/>
                <a:gd name="connsiteX3" fmla="*/ 1828800 w 2133600"/>
                <a:gd name="connsiteY3" fmla="*/ 1327355 h 1327355"/>
                <a:gd name="connsiteX4" fmla="*/ 1066800 w 2133600"/>
                <a:gd name="connsiteY4" fmla="*/ 1327355 h 1327355"/>
                <a:gd name="connsiteX5" fmla="*/ 914400 w 2133600"/>
                <a:gd name="connsiteY5" fmla="*/ 1150374 h 1327355"/>
                <a:gd name="connsiteX6" fmla="*/ 762000 w 2133600"/>
                <a:gd name="connsiteY6" fmla="*/ 1327355 h 1327355"/>
                <a:gd name="connsiteX7" fmla="*/ 0 w 2133600"/>
                <a:gd name="connsiteY7" fmla="*/ 1327355 h 1327355"/>
                <a:gd name="connsiteX0" fmla="*/ 0 w 1828800"/>
                <a:gd name="connsiteY0" fmla="*/ 1327355 h 1327355"/>
                <a:gd name="connsiteX1" fmla="*/ 457200 w 1828800"/>
                <a:gd name="connsiteY1" fmla="*/ 0 h 1327355"/>
                <a:gd name="connsiteX2" fmla="*/ 1371600 w 1828800"/>
                <a:gd name="connsiteY2" fmla="*/ 265471 h 1327355"/>
                <a:gd name="connsiteX3" fmla="*/ 1828800 w 1828800"/>
                <a:gd name="connsiteY3" fmla="*/ 1327355 h 1327355"/>
                <a:gd name="connsiteX4" fmla="*/ 1066800 w 1828800"/>
                <a:gd name="connsiteY4" fmla="*/ 1327355 h 1327355"/>
                <a:gd name="connsiteX5" fmla="*/ 914400 w 1828800"/>
                <a:gd name="connsiteY5" fmla="*/ 1150374 h 1327355"/>
                <a:gd name="connsiteX6" fmla="*/ 762000 w 1828800"/>
                <a:gd name="connsiteY6" fmla="*/ 1327355 h 1327355"/>
                <a:gd name="connsiteX7" fmla="*/ 0 w 1828800"/>
                <a:gd name="connsiteY7" fmla="*/ 1327355 h 1327355"/>
                <a:gd name="connsiteX0" fmla="*/ 0 w 1828800"/>
                <a:gd name="connsiteY0" fmla="*/ 1061884 h 1061884"/>
                <a:gd name="connsiteX1" fmla="*/ 152400 w 1828800"/>
                <a:gd name="connsiteY1" fmla="*/ 0 h 1061884"/>
                <a:gd name="connsiteX2" fmla="*/ 13716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152400 w 1828800"/>
                <a:gd name="connsiteY1" fmla="*/ 0 h 1061884"/>
                <a:gd name="connsiteX2" fmla="*/ 16764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457200 w 1828800"/>
                <a:gd name="connsiteY1" fmla="*/ 0 h 1061884"/>
                <a:gd name="connsiteX2" fmla="*/ 16764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457200 w 1828800"/>
                <a:gd name="connsiteY1" fmla="*/ 0 h 1061884"/>
                <a:gd name="connsiteX2" fmla="*/ 13716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457200 w 1828800"/>
                <a:gd name="connsiteY1" fmla="*/ 0 h 1061884"/>
                <a:gd name="connsiteX2" fmla="*/ 14478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381000 w 1828800"/>
                <a:gd name="connsiteY1" fmla="*/ 0 h 1061884"/>
                <a:gd name="connsiteX2" fmla="*/ 14478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381000 w 1828800"/>
                <a:gd name="connsiteY1" fmla="*/ 0 h 1061884"/>
                <a:gd name="connsiteX2" fmla="*/ 14478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79641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8800" h="1061884">
                  <a:moveTo>
                    <a:pt x="0" y="1061884"/>
                  </a:moveTo>
                  <a:lnTo>
                    <a:pt x="381000" y="0"/>
                  </a:lnTo>
                  <a:lnTo>
                    <a:pt x="1447800" y="0"/>
                  </a:lnTo>
                  <a:lnTo>
                    <a:pt x="1828800" y="1061884"/>
                  </a:lnTo>
                  <a:lnTo>
                    <a:pt x="1066800" y="1061884"/>
                  </a:lnTo>
                  <a:lnTo>
                    <a:pt x="914400" y="796413"/>
                  </a:lnTo>
                  <a:lnTo>
                    <a:pt x="762000" y="1061884"/>
                  </a:lnTo>
                  <a:lnTo>
                    <a:pt x="0" y="1061884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sz="1050" dirty="0" smtClean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Add</a:t>
              </a:r>
              <a:endPara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981200" y="1981200"/>
              <a:ext cx="2286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2</a:t>
              </a:r>
              <a:endParaRPr lang="en-US" sz="1200" dirty="0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2190207" y="2172786"/>
              <a:ext cx="152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Rectangle 15"/>
          <p:cNvSpPr/>
          <p:nvPr/>
        </p:nvSpPr>
        <p:spPr>
          <a:xfrm>
            <a:off x="533400" y="3432048"/>
            <a:ext cx="384048" cy="768096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PC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1185336" y="2933697"/>
            <a:ext cx="962484" cy="1481328"/>
            <a:chOff x="2345796" y="3581400"/>
            <a:chExt cx="1754525" cy="2057400"/>
          </a:xfrm>
        </p:grpSpPr>
        <p:sp>
          <p:nvSpPr>
            <p:cNvPr id="55" name="Rectangle 54"/>
            <p:cNvSpPr/>
            <p:nvPr/>
          </p:nvSpPr>
          <p:spPr>
            <a:xfrm>
              <a:off x="2438400" y="3581400"/>
              <a:ext cx="1600200" cy="2057400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Instruction memory</a:t>
              </a:r>
              <a:endParaRPr lang="en-US" sz="11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345796" y="4419600"/>
              <a:ext cx="1500184" cy="320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/>
                <a:t>Read address</a:t>
              </a:r>
              <a:endParaRPr lang="en-US" sz="900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728723" y="5109633"/>
              <a:ext cx="1371598" cy="512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/>
                <a:t>Instruction [15-0]</a:t>
              </a:r>
              <a:endParaRPr lang="en-US" sz="900" dirty="0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886200" y="2971800"/>
            <a:ext cx="1207009" cy="1755054"/>
            <a:chOff x="3550919" y="2334768"/>
            <a:chExt cx="1207009" cy="1755054"/>
          </a:xfrm>
        </p:grpSpPr>
        <p:grpSp>
          <p:nvGrpSpPr>
            <p:cNvPr id="70" name="Group 69"/>
            <p:cNvGrpSpPr/>
            <p:nvPr/>
          </p:nvGrpSpPr>
          <p:grpSpPr>
            <a:xfrm>
              <a:off x="3550919" y="2334768"/>
              <a:ext cx="1207009" cy="1755054"/>
              <a:chOff x="2438399" y="3581400"/>
              <a:chExt cx="1600201" cy="2057400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2438400" y="3581400"/>
                <a:ext cx="1600200" cy="2057400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dirty="0" smtClean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Registers</a:t>
                </a:r>
                <a:endPara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2438399" y="3902978"/>
                <a:ext cx="1500189" cy="30667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r>
                  <a:rPr lang="en-US" sz="1050" dirty="0" smtClean="0"/>
                  <a:t>Read register 1</a:t>
                </a:r>
                <a:endParaRPr lang="en-US" sz="1050" dirty="0"/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2802082" y="4183705"/>
                <a:ext cx="1226128" cy="30667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r"/>
                <a:r>
                  <a:rPr lang="en-US" sz="1050" dirty="0" smtClean="0"/>
                  <a:t>Read data 1</a:t>
                </a:r>
                <a:endParaRPr lang="en-US" sz="1050" dirty="0"/>
              </a:p>
            </p:txBody>
          </p:sp>
        </p:grpSp>
        <p:sp>
          <p:nvSpPr>
            <p:cNvPr id="74" name="TextBox 73"/>
            <p:cNvSpPr txBox="1"/>
            <p:nvPr/>
          </p:nvSpPr>
          <p:spPr>
            <a:xfrm>
              <a:off x="3550920" y="3068017"/>
              <a:ext cx="102108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smtClean="0"/>
                <a:t>Read register 2</a:t>
              </a:r>
              <a:endParaRPr lang="en-US" sz="1050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550920" y="3486912"/>
              <a:ext cx="102108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smtClean="0"/>
                <a:t>Write register</a:t>
              </a:r>
              <a:endParaRPr lang="en-US" sz="105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550920" y="3816096"/>
              <a:ext cx="8229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smtClean="0"/>
                <a:t>Write data</a:t>
              </a:r>
              <a:endParaRPr lang="en-US" sz="1050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825240" y="3287473"/>
              <a:ext cx="924851" cy="2616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sz="1050" dirty="0" smtClean="0"/>
                <a:t>Read data 2</a:t>
              </a:r>
              <a:endParaRPr lang="en-US" sz="1050" dirty="0"/>
            </a:p>
          </p:txBody>
        </p:sp>
      </p:grpSp>
      <p:sp>
        <p:nvSpPr>
          <p:cNvPr id="81" name="Oval 80"/>
          <p:cNvSpPr/>
          <p:nvPr/>
        </p:nvSpPr>
        <p:spPr>
          <a:xfrm>
            <a:off x="2895600" y="1066800"/>
            <a:ext cx="1066800" cy="1752600"/>
          </a:xfrm>
          <a:prstGeom prst="ellipse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Control</a:t>
            </a:r>
            <a:endParaRPr lang="en-US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1" name="Oval 90"/>
          <p:cNvSpPr/>
          <p:nvPr/>
        </p:nvSpPr>
        <p:spPr>
          <a:xfrm>
            <a:off x="4343400" y="4876800"/>
            <a:ext cx="762000" cy="914400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Sign-extend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2" name="Oval 91"/>
          <p:cNvSpPr/>
          <p:nvPr/>
        </p:nvSpPr>
        <p:spPr>
          <a:xfrm>
            <a:off x="5715000" y="5486400"/>
            <a:ext cx="762000" cy="1066800"/>
          </a:xfrm>
          <a:prstGeom prst="ellipse">
            <a:avLst/>
          </a:prstGeom>
          <a:noFill/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ALU Control</a:t>
            </a:r>
            <a:endParaRPr lang="en-US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3" name="Oval 92"/>
          <p:cNvSpPr/>
          <p:nvPr/>
        </p:nvSpPr>
        <p:spPr>
          <a:xfrm>
            <a:off x="5943600" y="1087444"/>
            <a:ext cx="635000" cy="762000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Left shift 2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6248400" y="3200400"/>
            <a:ext cx="748938" cy="1389888"/>
            <a:chOff x="6553200" y="3200400"/>
            <a:chExt cx="748938" cy="1389888"/>
          </a:xfrm>
        </p:grpSpPr>
        <p:sp>
          <p:nvSpPr>
            <p:cNvPr id="95" name="Freeform 94"/>
            <p:cNvSpPr/>
            <p:nvPr/>
          </p:nvSpPr>
          <p:spPr>
            <a:xfrm rot="5400000">
              <a:off x="6205728" y="3547872"/>
              <a:ext cx="1389888" cy="694944"/>
            </a:xfrm>
            <a:custGeom>
              <a:avLst/>
              <a:gdLst>
                <a:gd name="connsiteX0" fmla="*/ -8 w 2971800"/>
                <a:gd name="connsiteY0" fmla="*/ 1764170 h 2743200"/>
                <a:gd name="connsiteX1" fmla="*/ 294299 w 2971800"/>
                <a:gd name="connsiteY1" fmla="*/ 543327 h 2743200"/>
                <a:gd name="connsiteX2" fmla="*/ 1485900 w 2971800"/>
                <a:gd name="connsiteY2" fmla="*/ 0 h 2743200"/>
                <a:gd name="connsiteX3" fmla="*/ 2677501 w 2971800"/>
                <a:gd name="connsiteY3" fmla="*/ 543327 h 2743200"/>
                <a:gd name="connsiteX4" fmla="*/ 2971808 w 2971800"/>
                <a:gd name="connsiteY4" fmla="*/ 1764170 h 2743200"/>
                <a:gd name="connsiteX5" fmla="*/ 2147184 w 2971800"/>
                <a:gd name="connsiteY5" fmla="*/ 2743214 h 2743200"/>
                <a:gd name="connsiteX6" fmla="*/ 824616 w 2971800"/>
                <a:gd name="connsiteY6" fmla="*/ 2743214 h 2743200"/>
                <a:gd name="connsiteX7" fmla="*/ -8 w 2971800"/>
                <a:gd name="connsiteY7" fmla="*/ 1764170 h 2743200"/>
                <a:gd name="connsiteX0" fmla="*/ 0 w 2895608"/>
                <a:gd name="connsiteY0" fmla="*/ 2743200 h 2743214"/>
                <a:gd name="connsiteX1" fmla="*/ 218099 w 2895608"/>
                <a:gd name="connsiteY1" fmla="*/ 543327 h 2743214"/>
                <a:gd name="connsiteX2" fmla="*/ 1409700 w 2895608"/>
                <a:gd name="connsiteY2" fmla="*/ 0 h 2743214"/>
                <a:gd name="connsiteX3" fmla="*/ 2601301 w 2895608"/>
                <a:gd name="connsiteY3" fmla="*/ 543327 h 2743214"/>
                <a:gd name="connsiteX4" fmla="*/ 2895608 w 2895608"/>
                <a:gd name="connsiteY4" fmla="*/ 1764170 h 2743214"/>
                <a:gd name="connsiteX5" fmla="*/ 2070984 w 2895608"/>
                <a:gd name="connsiteY5" fmla="*/ 2743214 h 2743214"/>
                <a:gd name="connsiteX6" fmla="*/ 748416 w 2895608"/>
                <a:gd name="connsiteY6" fmla="*/ 2743214 h 2743214"/>
                <a:gd name="connsiteX7" fmla="*/ 0 w 2895608"/>
                <a:gd name="connsiteY7" fmla="*/ 2743200 h 2743214"/>
                <a:gd name="connsiteX0" fmla="*/ 0 w 2895600"/>
                <a:gd name="connsiteY0" fmla="*/ 2743200 h 2743214"/>
                <a:gd name="connsiteX1" fmla="*/ 218099 w 2895600"/>
                <a:gd name="connsiteY1" fmla="*/ 543327 h 2743214"/>
                <a:gd name="connsiteX2" fmla="*/ 1409700 w 2895600"/>
                <a:gd name="connsiteY2" fmla="*/ 0 h 2743214"/>
                <a:gd name="connsiteX3" fmla="*/ 2601301 w 2895600"/>
                <a:gd name="connsiteY3" fmla="*/ 543327 h 2743214"/>
                <a:gd name="connsiteX4" fmla="*/ 2895600 w 2895600"/>
                <a:gd name="connsiteY4" fmla="*/ 2743200 h 2743214"/>
                <a:gd name="connsiteX5" fmla="*/ 2070984 w 2895600"/>
                <a:gd name="connsiteY5" fmla="*/ 2743214 h 2743214"/>
                <a:gd name="connsiteX6" fmla="*/ 748416 w 2895600"/>
                <a:gd name="connsiteY6" fmla="*/ 2743214 h 2743214"/>
                <a:gd name="connsiteX7" fmla="*/ 0 w 2895600"/>
                <a:gd name="connsiteY7" fmla="*/ 2743200 h 2743214"/>
                <a:gd name="connsiteX0" fmla="*/ 0 w 2895600"/>
                <a:gd name="connsiteY0" fmla="*/ 2743200 h 2743214"/>
                <a:gd name="connsiteX1" fmla="*/ 218099 w 2895600"/>
                <a:gd name="connsiteY1" fmla="*/ 543327 h 2743214"/>
                <a:gd name="connsiteX2" fmla="*/ 1409700 w 2895600"/>
                <a:gd name="connsiteY2" fmla="*/ 0 h 2743214"/>
                <a:gd name="connsiteX3" fmla="*/ 2601301 w 2895600"/>
                <a:gd name="connsiteY3" fmla="*/ 543327 h 2743214"/>
                <a:gd name="connsiteX4" fmla="*/ 2895600 w 2895600"/>
                <a:gd name="connsiteY4" fmla="*/ 2743200 h 2743214"/>
                <a:gd name="connsiteX5" fmla="*/ 2070984 w 2895600"/>
                <a:gd name="connsiteY5" fmla="*/ 2743214 h 2743214"/>
                <a:gd name="connsiteX6" fmla="*/ 1219200 w 2895600"/>
                <a:gd name="connsiteY6" fmla="*/ 2300748 h 2743214"/>
                <a:gd name="connsiteX7" fmla="*/ 0 w 2895600"/>
                <a:gd name="connsiteY7" fmla="*/ 2743200 h 2743214"/>
                <a:gd name="connsiteX0" fmla="*/ 0 w 2895600"/>
                <a:gd name="connsiteY0" fmla="*/ 2743200 h 2743200"/>
                <a:gd name="connsiteX1" fmla="*/ 218099 w 2895600"/>
                <a:gd name="connsiteY1" fmla="*/ 543327 h 2743200"/>
                <a:gd name="connsiteX2" fmla="*/ 1409700 w 2895600"/>
                <a:gd name="connsiteY2" fmla="*/ 0 h 2743200"/>
                <a:gd name="connsiteX3" fmla="*/ 2601301 w 2895600"/>
                <a:gd name="connsiteY3" fmla="*/ 543327 h 2743200"/>
                <a:gd name="connsiteX4" fmla="*/ 2895600 w 2895600"/>
                <a:gd name="connsiteY4" fmla="*/ 2743200 h 2743200"/>
                <a:gd name="connsiteX5" fmla="*/ 1828800 w 2895600"/>
                <a:gd name="connsiteY5" fmla="*/ 2300748 h 2743200"/>
                <a:gd name="connsiteX6" fmla="*/ 1219200 w 2895600"/>
                <a:gd name="connsiteY6" fmla="*/ 2300748 h 2743200"/>
                <a:gd name="connsiteX7" fmla="*/ 0 w 2895600"/>
                <a:gd name="connsiteY7" fmla="*/ 2743200 h 2743200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01301 w 2895600"/>
                <a:gd name="connsiteY3" fmla="*/ 12385 h 2212258"/>
                <a:gd name="connsiteX4" fmla="*/ 2895600 w 2895600"/>
                <a:gd name="connsiteY4" fmla="*/ 2212258 h 2212258"/>
                <a:gd name="connsiteX5" fmla="*/ 1828800 w 2895600"/>
                <a:gd name="connsiteY5" fmla="*/ 1769806 h 2212258"/>
                <a:gd name="connsiteX6" fmla="*/ 12192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828800 w 2895600"/>
                <a:gd name="connsiteY5" fmla="*/ 1769806 h 2212258"/>
                <a:gd name="connsiteX6" fmla="*/ 12192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828800 w 2895600"/>
                <a:gd name="connsiteY5" fmla="*/ 1769806 h 2212258"/>
                <a:gd name="connsiteX6" fmla="*/ 9144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295400 w 2895600"/>
                <a:gd name="connsiteY5" fmla="*/ 1769806 h 2212258"/>
                <a:gd name="connsiteX6" fmla="*/ 9144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295400 w 2895600"/>
                <a:gd name="connsiteY5" fmla="*/ 1769806 h 2212258"/>
                <a:gd name="connsiteX6" fmla="*/ 914400 w 2895600"/>
                <a:gd name="connsiteY6" fmla="*/ 2212258 h 2212258"/>
                <a:gd name="connsiteX7" fmla="*/ 0 w 2895600"/>
                <a:gd name="connsiteY7" fmla="*/ 2212258 h 2212258"/>
                <a:gd name="connsiteX0" fmla="*/ 0 w 2667000"/>
                <a:gd name="connsiteY0" fmla="*/ 2212258 h 2212258"/>
                <a:gd name="connsiteX1" fmla="*/ 218099 w 2667000"/>
                <a:gd name="connsiteY1" fmla="*/ 12385 h 2212258"/>
                <a:gd name="connsiteX2" fmla="*/ 2286000 w 2667000"/>
                <a:gd name="connsiteY2" fmla="*/ 0 h 2212258"/>
                <a:gd name="connsiteX3" fmla="*/ 2667000 w 2667000"/>
                <a:gd name="connsiteY3" fmla="*/ 1415845 h 2212258"/>
                <a:gd name="connsiteX4" fmla="*/ 1600200 w 2667000"/>
                <a:gd name="connsiteY4" fmla="*/ 2212258 h 2212258"/>
                <a:gd name="connsiteX5" fmla="*/ 1295400 w 2667000"/>
                <a:gd name="connsiteY5" fmla="*/ 1769806 h 2212258"/>
                <a:gd name="connsiteX6" fmla="*/ 914400 w 2667000"/>
                <a:gd name="connsiteY6" fmla="*/ 2212258 h 2212258"/>
                <a:gd name="connsiteX7" fmla="*/ 0 w 2667000"/>
                <a:gd name="connsiteY7" fmla="*/ 2212258 h 2212258"/>
                <a:gd name="connsiteX0" fmla="*/ 0 w 2667000"/>
                <a:gd name="connsiteY0" fmla="*/ 2212258 h 2212258"/>
                <a:gd name="connsiteX1" fmla="*/ 218099 w 2667000"/>
                <a:gd name="connsiteY1" fmla="*/ 12385 h 2212258"/>
                <a:gd name="connsiteX2" fmla="*/ 2286000 w 2667000"/>
                <a:gd name="connsiteY2" fmla="*/ 0 h 2212258"/>
                <a:gd name="connsiteX3" fmla="*/ 2667000 w 2667000"/>
                <a:gd name="connsiteY3" fmla="*/ 2212258 h 2212258"/>
                <a:gd name="connsiteX4" fmla="*/ 1600200 w 2667000"/>
                <a:gd name="connsiteY4" fmla="*/ 2212258 h 2212258"/>
                <a:gd name="connsiteX5" fmla="*/ 1295400 w 2667000"/>
                <a:gd name="connsiteY5" fmla="*/ 1769806 h 2212258"/>
                <a:gd name="connsiteX6" fmla="*/ 914400 w 2667000"/>
                <a:gd name="connsiteY6" fmla="*/ 2212258 h 2212258"/>
                <a:gd name="connsiteX7" fmla="*/ 0 w 2667000"/>
                <a:gd name="connsiteY7" fmla="*/ 2212258 h 2212258"/>
                <a:gd name="connsiteX0" fmla="*/ 0 w 2667000"/>
                <a:gd name="connsiteY0" fmla="*/ 2212258 h 2212258"/>
                <a:gd name="connsiteX1" fmla="*/ 457200 w 2667000"/>
                <a:gd name="connsiteY1" fmla="*/ 884903 h 2212258"/>
                <a:gd name="connsiteX2" fmla="*/ 2286000 w 2667000"/>
                <a:gd name="connsiteY2" fmla="*/ 0 h 2212258"/>
                <a:gd name="connsiteX3" fmla="*/ 2667000 w 2667000"/>
                <a:gd name="connsiteY3" fmla="*/ 2212258 h 2212258"/>
                <a:gd name="connsiteX4" fmla="*/ 1600200 w 2667000"/>
                <a:gd name="connsiteY4" fmla="*/ 2212258 h 2212258"/>
                <a:gd name="connsiteX5" fmla="*/ 1295400 w 2667000"/>
                <a:gd name="connsiteY5" fmla="*/ 1769806 h 2212258"/>
                <a:gd name="connsiteX6" fmla="*/ 914400 w 2667000"/>
                <a:gd name="connsiteY6" fmla="*/ 2212258 h 2212258"/>
                <a:gd name="connsiteX7" fmla="*/ 0 w 2667000"/>
                <a:gd name="connsiteY7" fmla="*/ 2212258 h 2212258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1295400 w 2667000"/>
                <a:gd name="connsiteY5" fmla="*/ 884903 h 1327355"/>
                <a:gd name="connsiteX6" fmla="*/ 9144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1295400 w 2667000"/>
                <a:gd name="connsiteY5" fmla="*/ 884903 h 1327355"/>
                <a:gd name="connsiteX6" fmla="*/ 6096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914400 w 2667000"/>
                <a:gd name="connsiteY5" fmla="*/ 884903 h 1327355"/>
                <a:gd name="connsiteX6" fmla="*/ 6096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914400 w 2667000"/>
                <a:gd name="connsiteY5" fmla="*/ 1150374 h 1327355"/>
                <a:gd name="connsiteX6" fmla="*/ 6096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914400 w 2667000"/>
                <a:gd name="connsiteY5" fmla="*/ 1150374 h 1327355"/>
                <a:gd name="connsiteX6" fmla="*/ 7620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066800 w 2667000"/>
                <a:gd name="connsiteY4" fmla="*/ 1327355 h 1327355"/>
                <a:gd name="connsiteX5" fmla="*/ 914400 w 2667000"/>
                <a:gd name="connsiteY5" fmla="*/ 1150374 h 1327355"/>
                <a:gd name="connsiteX6" fmla="*/ 762000 w 2667000"/>
                <a:gd name="connsiteY6" fmla="*/ 1327355 h 1327355"/>
                <a:gd name="connsiteX7" fmla="*/ 0 w 2667000"/>
                <a:gd name="connsiteY7" fmla="*/ 1327355 h 1327355"/>
                <a:gd name="connsiteX0" fmla="*/ 0 w 2133600"/>
                <a:gd name="connsiteY0" fmla="*/ 1327355 h 1327355"/>
                <a:gd name="connsiteX1" fmla="*/ 457200 w 2133600"/>
                <a:gd name="connsiteY1" fmla="*/ 0 h 1327355"/>
                <a:gd name="connsiteX2" fmla="*/ 2133600 w 2133600"/>
                <a:gd name="connsiteY2" fmla="*/ 0 h 1327355"/>
                <a:gd name="connsiteX3" fmla="*/ 1828800 w 2133600"/>
                <a:gd name="connsiteY3" fmla="*/ 1327355 h 1327355"/>
                <a:gd name="connsiteX4" fmla="*/ 1066800 w 2133600"/>
                <a:gd name="connsiteY4" fmla="*/ 1327355 h 1327355"/>
                <a:gd name="connsiteX5" fmla="*/ 914400 w 2133600"/>
                <a:gd name="connsiteY5" fmla="*/ 1150374 h 1327355"/>
                <a:gd name="connsiteX6" fmla="*/ 762000 w 2133600"/>
                <a:gd name="connsiteY6" fmla="*/ 1327355 h 1327355"/>
                <a:gd name="connsiteX7" fmla="*/ 0 w 2133600"/>
                <a:gd name="connsiteY7" fmla="*/ 1327355 h 1327355"/>
                <a:gd name="connsiteX0" fmla="*/ 0 w 1828800"/>
                <a:gd name="connsiteY0" fmla="*/ 1327355 h 1327355"/>
                <a:gd name="connsiteX1" fmla="*/ 457200 w 1828800"/>
                <a:gd name="connsiteY1" fmla="*/ 0 h 1327355"/>
                <a:gd name="connsiteX2" fmla="*/ 1371600 w 1828800"/>
                <a:gd name="connsiteY2" fmla="*/ 265471 h 1327355"/>
                <a:gd name="connsiteX3" fmla="*/ 1828800 w 1828800"/>
                <a:gd name="connsiteY3" fmla="*/ 1327355 h 1327355"/>
                <a:gd name="connsiteX4" fmla="*/ 1066800 w 1828800"/>
                <a:gd name="connsiteY4" fmla="*/ 1327355 h 1327355"/>
                <a:gd name="connsiteX5" fmla="*/ 914400 w 1828800"/>
                <a:gd name="connsiteY5" fmla="*/ 1150374 h 1327355"/>
                <a:gd name="connsiteX6" fmla="*/ 762000 w 1828800"/>
                <a:gd name="connsiteY6" fmla="*/ 1327355 h 1327355"/>
                <a:gd name="connsiteX7" fmla="*/ 0 w 1828800"/>
                <a:gd name="connsiteY7" fmla="*/ 1327355 h 1327355"/>
                <a:gd name="connsiteX0" fmla="*/ 0 w 1828800"/>
                <a:gd name="connsiteY0" fmla="*/ 1061884 h 1061884"/>
                <a:gd name="connsiteX1" fmla="*/ 152400 w 1828800"/>
                <a:gd name="connsiteY1" fmla="*/ 0 h 1061884"/>
                <a:gd name="connsiteX2" fmla="*/ 13716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152400 w 1828800"/>
                <a:gd name="connsiteY1" fmla="*/ 0 h 1061884"/>
                <a:gd name="connsiteX2" fmla="*/ 16764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457200 w 1828800"/>
                <a:gd name="connsiteY1" fmla="*/ 0 h 1061884"/>
                <a:gd name="connsiteX2" fmla="*/ 16764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457200 w 1828800"/>
                <a:gd name="connsiteY1" fmla="*/ 0 h 1061884"/>
                <a:gd name="connsiteX2" fmla="*/ 13716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457200 w 1828800"/>
                <a:gd name="connsiteY1" fmla="*/ 0 h 1061884"/>
                <a:gd name="connsiteX2" fmla="*/ 14478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381000 w 1828800"/>
                <a:gd name="connsiteY1" fmla="*/ 0 h 1061884"/>
                <a:gd name="connsiteX2" fmla="*/ 14478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381000 w 1828800"/>
                <a:gd name="connsiteY1" fmla="*/ 0 h 1061884"/>
                <a:gd name="connsiteX2" fmla="*/ 14478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79641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8800" h="1061884">
                  <a:moveTo>
                    <a:pt x="0" y="1061884"/>
                  </a:moveTo>
                  <a:lnTo>
                    <a:pt x="381000" y="0"/>
                  </a:lnTo>
                  <a:lnTo>
                    <a:pt x="1447800" y="0"/>
                  </a:lnTo>
                  <a:lnTo>
                    <a:pt x="1828800" y="1061884"/>
                  </a:lnTo>
                  <a:lnTo>
                    <a:pt x="1066800" y="1061884"/>
                  </a:lnTo>
                  <a:lnTo>
                    <a:pt x="914400" y="796413"/>
                  </a:lnTo>
                  <a:lnTo>
                    <a:pt x="762000" y="1061884"/>
                  </a:lnTo>
                  <a:lnTo>
                    <a:pt x="0" y="1061884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sz="1400" dirty="0" smtClean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ALU0</a:t>
              </a:r>
              <a:endPara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825345" y="3657600"/>
              <a:ext cx="4572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/>
                <a:t>Zero</a:t>
              </a:r>
              <a:endParaRPr lang="en-US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705600" y="4027710"/>
              <a:ext cx="5965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/>
                <a:t>Result</a:t>
              </a:r>
              <a:endParaRPr lang="en-US" dirty="0"/>
            </a:p>
          </p:txBody>
        </p:sp>
      </p:grpSp>
      <p:sp>
        <p:nvSpPr>
          <p:cNvPr id="100" name="Flowchart: Delay 99"/>
          <p:cNvSpPr/>
          <p:nvPr/>
        </p:nvSpPr>
        <p:spPr>
          <a:xfrm>
            <a:off x="7467600" y="3124200"/>
            <a:ext cx="228600" cy="206829"/>
          </a:xfrm>
          <a:prstGeom prst="flowChartDelay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" name="Group 101"/>
          <p:cNvGrpSpPr/>
          <p:nvPr/>
        </p:nvGrpSpPr>
        <p:grpSpPr>
          <a:xfrm>
            <a:off x="7941732" y="554565"/>
            <a:ext cx="381000" cy="914400"/>
            <a:chOff x="5677986" y="3048000"/>
            <a:chExt cx="418014" cy="914400"/>
          </a:xfrm>
        </p:grpSpPr>
        <p:sp>
          <p:nvSpPr>
            <p:cNvPr id="103" name="Flowchart: Terminator 102"/>
            <p:cNvSpPr/>
            <p:nvPr/>
          </p:nvSpPr>
          <p:spPr>
            <a:xfrm rot="5400000">
              <a:off x="5448300" y="3314700"/>
              <a:ext cx="914400" cy="381000"/>
            </a:xfrm>
            <a:prstGeom prst="flowChartTerminator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M</a:t>
              </a:r>
            </a:p>
            <a:p>
              <a:pPr algn="ctr"/>
              <a:r>
                <a:rPr lang="en-US" sz="1000" dirty="0">
                  <a:solidFill>
                    <a:schemeClr val="bg2">
                      <a:lumMod val="75000"/>
                    </a:schemeClr>
                  </a:solidFill>
                </a:rPr>
                <a:t>u</a:t>
              </a:r>
              <a:endParaRPr lang="en-US" sz="1000" dirty="0" smtClean="0">
                <a:solidFill>
                  <a:schemeClr val="bg2">
                    <a:lumMod val="75000"/>
                  </a:schemeClr>
                </a:solidFill>
              </a:endParaRPr>
            </a:p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X</a:t>
              </a:r>
            </a:p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2</a:t>
              </a:r>
              <a:endParaRPr 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677986" y="3158982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/>
                <a:t>0</a:t>
              </a:r>
              <a:endParaRPr lang="en-US" sz="900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677986" y="3657600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1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8493125" y="4451350"/>
            <a:ext cx="381000" cy="914400"/>
            <a:chOff x="5677986" y="3048000"/>
            <a:chExt cx="418014" cy="914400"/>
          </a:xfrm>
        </p:grpSpPr>
        <p:sp>
          <p:nvSpPr>
            <p:cNvPr id="107" name="Flowchart: Terminator 106"/>
            <p:cNvSpPr/>
            <p:nvPr/>
          </p:nvSpPr>
          <p:spPr>
            <a:xfrm rot="5400000">
              <a:off x="5448300" y="3314700"/>
              <a:ext cx="914400" cy="381000"/>
            </a:xfrm>
            <a:prstGeom prst="flowChartTerminator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M</a:t>
              </a:r>
            </a:p>
            <a:p>
              <a:pPr algn="ctr"/>
              <a:r>
                <a:rPr lang="en-US" sz="1000" dirty="0">
                  <a:solidFill>
                    <a:schemeClr val="bg2">
                      <a:lumMod val="75000"/>
                    </a:schemeClr>
                  </a:solidFill>
                </a:rPr>
                <a:t>u</a:t>
              </a:r>
              <a:endParaRPr lang="en-US" sz="1000" dirty="0" smtClean="0">
                <a:solidFill>
                  <a:schemeClr val="bg2">
                    <a:lumMod val="75000"/>
                  </a:schemeClr>
                </a:solidFill>
              </a:endParaRPr>
            </a:p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X</a:t>
              </a:r>
            </a:p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4</a:t>
              </a:r>
              <a:endParaRPr 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677986" y="3158982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/>
                <a:t>0</a:t>
              </a:r>
              <a:endParaRPr lang="en-US" sz="900" dirty="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5677986" y="3657600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1</a:t>
              </a:r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6858000" y="535756"/>
            <a:ext cx="748938" cy="1389888"/>
            <a:chOff x="6553200" y="3200400"/>
            <a:chExt cx="748938" cy="1389888"/>
          </a:xfrm>
        </p:grpSpPr>
        <p:sp>
          <p:nvSpPr>
            <p:cNvPr id="111" name="Freeform 110"/>
            <p:cNvSpPr/>
            <p:nvPr/>
          </p:nvSpPr>
          <p:spPr>
            <a:xfrm rot="5400000">
              <a:off x="6205728" y="3547872"/>
              <a:ext cx="1389888" cy="694944"/>
            </a:xfrm>
            <a:custGeom>
              <a:avLst/>
              <a:gdLst>
                <a:gd name="connsiteX0" fmla="*/ -8 w 2971800"/>
                <a:gd name="connsiteY0" fmla="*/ 1764170 h 2743200"/>
                <a:gd name="connsiteX1" fmla="*/ 294299 w 2971800"/>
                <a:gd name="connsiteY1" fmla="*/ 543327 h 2743200"/>
                <a:gd name="connsiteX2" fmla="*/ 1485900 w 2971800"/>
                <a:gd name="connsiteY2" fmla="*/ 0 h 2743200"/>
                <a:gd name="connsiteX3" fmla="*/ 2677501 w 2971800"/>
                <a:gd name="connsiteY3" fmla="*/ 543327 h 2743200"/>
                <a:gd name="connsiteX4" fmla="*/ 2971808 w 2971800"/>
                <a:gd name="connsiteY4" fmla="*/ 1764170 h 2743200"/>
                <a:gd name="connsiteX5" fmla="*/ 2147184 w 2971800"/>
                <a:gd name="connsiteY5" fmla="*/ 2743214 h 2743200"/>
                <a:gd name="connsiteX6" fmla="*/ 824616 w 2971800"/>
                <a:gd name="connsiteY6" fmla="*/ 2743214 h 2743200"/>
                <a:gd name="connsiteX7" fmla="*/ -8 w 2971800"/>
                <a:gd name="connsiteY7" fmla="*/ 1764170 h 2743200"/>
                <a:gd name="connsiteX0" fmla="*/ 0 w 2895608"/>
                <a:gd name="connsiteY0" fmla="*/ 2743200 h 2743214"/>
                <a:gd name="connsiteX1" fmla="*/ 218099 w 2895608"/>
                <a:gd name="connsiteY1" fmla="*/ 543327 h 2743214"/>
                <a:gd name="connsiteX2" fmla="*/ 1409700 w 2895608"/>
                <a:gd name="connsiteY2" fmla="*/ 0 h 2743214"/>
                <a:gd name="connsiteX3" fmla="*/ 2601301 w 2895608"/>
                <a:gd name="connsiteY3" fmla="*/ 543327 h 2743214"/>
                <a:gd name="connsiteX4" fmla="*/ 2895608 w 2895608"/>
                <a:gd name="connsiteY4" fmla="*/ 1764170 h 2743214"/>
                <a:gd name="connsiteX5" fmla="*/ 2070984 w 2895608"/>
                <a:gd name="connsiteY5" fmla="*/ 2743214 h 2743214"/>
                <a:gd name="connsiteX6" fmla="*/ 748416 w 2895608"/>
                <a:gd name="connsiteY6" fmla="*/ 2743214 h 2743214"/>
                <a:gd name="connsiteX7" fmla="*/ 0 w 2895608"/>
                <a:gd name="connsiteY7" fmla="*/ 2743200 h 2743214"/>
                <a:gd name="connsiteX0" fmla="*/ 0 w 2895600"/>
                <a:gd name="connsiteY0" fmla="*/ 2743200 h 2743214"/>
                <a:gd name="connsiteX1" fmla="*/ 218099 w 2895600"/>
                <a:gd name="connsiteY1" fmla="*/ 543327 h 2743214"/>
                <a:gd name="connsiteX2" fmla="*/ 1409700 w 2895600"/>
                <a:gd name="connsiteY2" fmla="*/ 0 h 2743214"/>
                <a:gd name="connsiteX3" fmla="*/ 2601301 w 2895600"/>
                <a:gd name="connsiteY3" fmla="*/ 543327 h 2743214"/>
                <a:gd name="connsiteX4" fmla="*/ 2895600 w 2895600"/>
                <a:gd name="connsiteY4" fmla="*/ 2743200 h 2743214"/>
                <a:gd name="connsiteX5" fmla="*/ 2070984 w 2895600"/>
                <a:gd name="connsiteY5" fmla="*/ 2743214 h 2743214"/>
                <a:gd name="connsiteX6" fmla="*/ 748416 w 2895600"/>
                <a:gd name="connsiteY6" fmla="*/ 2743214 h 2743214"/>
                <a:gd name="connsiteX7" fmla="*/ 0 w 2895600"/>
                <a:gd name="connsiteY7" fmla="*/ 2743200 h 2743214"/>
                <a:gd name="connsiteX0" fmla="*/ 0 w 2895600"/>
                <a:gd name="connsiteY0" fmla="*/ 2743200 h 2743214"/>
                <a:gd name="connsiteX1" fmla="*/ 218099 w 2895600"/>
                <a:gd name="connsiteY1" fmla="*/ 543327 h 2743214"/>
                <a:gd name="connsiteX2" fmla="*/ 1409700 w 2895600"/>
                <a:gd name="connsiteY2" fmla="*/ 0 h 2743214"/>
                <a:gd name="connsiteX3" fmla="*/ 2601301 w 2895600"/>
                <a:gd name="connsiteY3" fmla="*/ 543327 h 2743214"/>
                <a:gd name="connsiteX4" fmla="*/ 2895600 w 2895600"/>
                <a:gd name="connsiteY4" fmla="*/ 2743200 h 2743214"/>
                <a:gd name="connsiteX5" fmla="*/ 2070984 w 2895600"/>
                <a:gd name="connsiteY5" fmla="*/ 2743214 h 2743214"/>
                <a:gd name="connsiteX6" fmla="*/ 1219200 w 2895600"/>
                <a:gd name="connsiteY6" fmla="*/ 2300748 h 2743214"/>
                <a:gd name="connsiteX7" fmla="*/ 0 w 2895600"/>
                <a:gd name="connsiteY7" fmla="*/ 2743200 h 2743214"/>
                <a:gd name="connsiteX0" fmla="*/ 0 w 2895600"/>
                <a:gd name="connsiteY0" fmla="*/ 2743200 h 2743200"/>
                <a:gd name="connsiteX1" fmla="*/ 218099 w 2895600"/>
                <a:gd name="connsiteY1" fmla="*/ 543327 h 2743200"/>
                <a:gd name="connsiteX2" fmla="*/ 1409700 w 2895600"/>
                <a:gd name="connsiteY2" fmla="*/ 0 h 2743200"/>
                <a:gd name="connsiteX3" fmla="*/ 2601301 w 2895600"/>
                <a:gd name="connsiteY3" fmla="*/ 543327 h 2743200"/>
                <a:gd name="connsiteX4" fmla="*/ 2895600 w 2895600"/>
                <a:gd name="connsiteY4" fmla="*/ 2743200 h 2743200"/>
                <a:gd name="connsiteX5" fmla="*/ 1828800 w 2895600"/>
                <a:gd name="connsiteY5" fmla="*/ 2300748 h 2743200"/>
                <a:gd name="connsiteX6" fmla="*/ 1219200 w 2895600"/>
                <a:gd name="connsiteY6" fmla="*/ 2300748 h 2743200"/>
                <a:gd name="connsiteX7" fmla="*/ 0 w 2895600"/>
                <a:gd name="connsiteY7" fmla="*/ 2743200 h 2743200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01301 w 2895600"/>
                <a:gd name="connsiteY3" fmla="*/ 12385 h 2212258"/>
                <a:gd name="connsiteX4" fmla="*/ 2895600 w 2895600"/>
                <a:gd name="connsiteY4" fmla="*/ 2212258 h 2212258"/>
                <a:gd name="connsiteX5" fmla="*/ 1828800 w 2895600"/>
                <a:gd name="connsiteY5" fmla="*/ 1769806 h 2212258"/>
                <a:gd name="connsiteX6" fmla="*/ 12192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828800 w 2895600"/>
                <a:gd name="connsiteY5" fmla="*/ 1769806 h 2212258"/>
                <a:gd name="connsiteX6" fmla="*/ 12192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828800 w 2895600"/>
                <a:gd name="connsiteY5" fmla="*/ 1769806 h 2212258"/>
                <a:gd name="connsiteX6" fmla="*/ 9144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295400 w 2895600"/>
                <a:gd name="connsiteY5" fmla="*/ 1769806 h 2212258"/>
                <a:gd name="connsiteX6" fmla="*/ 914400 w 2895600"/>
                <a:gd name="connsiteY6" fmla="*/ 1769806 h 2212258"/>
                <a:gd name="connsiteX7" fmla="*/ 0 w 2895600"/>
                <a:gd name="connsiteY7" fmla="*/ 2212258 h 2212258"/>
                <a:gd name="connsiteX0" fmla="*/ 0 w 2895600"/>
                <a:gd name="connsiteY0" fmla="*/ 2212258 h 2212258"/>
                <a:gd name="connsiteX1" fmla="*/ 218099 w 2895600"/>
                <a:gd name="connsiteY1" fmla="*/ 12385 h 2212258"/>
                <a:gd name="connsiteX2" fmla="*/ 2286000 w 2895600"/>
                <a:gd name="connsiteY2" fmla="*/ 0 h 2212258"/>
                <a:gd name="connsiteX3" fmla="*/ 2667000 w 2895600"/>
                <a:gd name="connsiteY3" fmla="*/ 1415845 h 2212258"/>
                <a:gd name="connsiteX4" fmla="*/ 2895600 w 2895600"/>
                <a:gd name="connsiteY4" fmla="*/ 2212258 h 2212258"/>
                <a:gd name="connsiteX5" fmla="*/ 1295400 w 2895600"/>
                <a:gd name="connsiteY5" fmla="*/ 1769806 h 2212258"/>
                <a:gd name="connsiteX6" fmla="*/ 914400 w 2895600"/>
                <a:gd name="connsiteY6" fmla="*/ 2212258 h 2212258"/>
                <a:gd name="connsiteX7" fmla="*/ 0 w 2895600"/>
                <a:gd name="connsiteY7" fmla="*/ 2212258 h 2212258"/>
                <a:gd name="connsiteX0" fmla="*/ 0 w 2667000"/>
                <a:gd name="connsiteY0" fmla="*/ 2212258 h 2212258"/>
                <a:gd name="connsiteX1" fmla="*/ 218099 w 2667000"/>
                <a:gd name="connsiteY1" fmla="*/ 12385 h 2212258"/>
                <a:gd name="connsiteX2" fmla="*/ 2286000 w 2667000"/>
                <a:gd name="connsiteY2" fmla="*/ 0 h 2212258"/>
                <a:gd name="connsiteX3" fmla="*/ 2667000 w 2667000"/>
                <a:gd name="connsiteY3" fmla="*/ 1415845 h 2212258"/>
                <a:gd name="connsiteX4" fmla="*/ 1600200 w 2667000"/>
                <a:gd name="connsiteY4" fmla="*/ 2212258 h 2212258"/>
                <a:gd name="connsiteX5" fmla="*/ 1295400 w 2667000"/>
                <a:gd name="connsiteY5" fmla="*/ 1769806 h 2212258"/>
                <a:gd name="connsiteX6" fmla="*/ 914400 w 2667000"/>
                <a:gd name="connsiteY6" fmla="*/ 2212258 h 2212258"/>
                <a:gd name="connsiteX7" fmla="*/ 0 w 2667000"/>
                <a:gd name="connsiteY7" fmla="*/ 2212258 h 2212258"/>
                <a:gd name="connsiteX0" fmla="*/ 0 w 2667000"/>
                <a:gd name="connsiteY0" fmla="*/ 2212258 h 2212258"/>
                <a:gd name="connsiteX1" fmla="*/ 218099 w 2667000"/>
                <a:gd name="connsiteY1" fmla="*/ 12385 h 2212258"/>
                <a:gd name="connsiteX2" fmla="*/ 2286000 w 2667000"/>
                <a:gd name="connsiteY2" fmla="*/ 0 h 2212258"/>
                <a:gd name="connsiteX3" fmla="*/ 2667000 w 2667000"/>
                <a:gd name="connsiteY3" fmla="*/ 2212258 h 2212258"/>
                <a:gd name="connsiteX4" fmla="*/ 1600200 w 2667000"/>
                <a:gd name="connsiteY4" fmla="*/ 2212258 h 2212258"/>
                <a:gd name="connsiteX5" fmla="*/ 1295400 w 2667000"/>
                <a:gd name="connsiteY5" fmla="*/ 1769806 h 2212258"/>
                <a:gd name="connsiteX6" fmla="*/ 914400 w 2667000"/>
                <a:gd name="connsiteY6" fmla="*/ 2212258 h 2212258"/>
                <a:gd name="connsiteX7" fmla="*/ 0 w 2667000"/>
                <a:gd name="connsiteY7" fmla="*/ 2212258 h 2212258"/>
                <a:gd name="connsiteX0" fmla="*/ 0 w 2667000"/>
                <a:gd name="connsiteY0" fmla="*/ 2212258 h 2212258"/>
                <a:gd name="connsiteX1" fmla="*/ 457200 w 2667000"/>
                <a:gd name="connsiteY1" fmla="*/ 884903 h 2212258"/>
                <a:gd name="connsiteX2" fmla="*/ 2286000 w 2667000"/>
                <a:gd name="connsiteY2" fmla="*/ 0 h 2212258"/>
                <a:gd name="connsiteX3" fmla="*/ 2667000 w 2667000"/>
                <a:gd name="connsiteY3" fmla="*/ 2212258 h 2212258"/>
                <a:gd name="connsiteX4" fmla="*/ 1600200 w 2667000"/>
                <a:gd name="connsiteY4" fmla="*/ 2212258 h 2212258"/>
                <a:gd name="connsiteX5" fmla="*/ 1295400 w 2667000"/>
                <a:gd name="connsiteY5" fmla="*/ 1769806 h 2212258"/>
                <a:gd name="connsiteX6" fmla="*/ 914400 w 2667000"/>
                <a:gd name="connsiteY6" fmla="*/ 2212258 h 2212258"/>
                <a:gd name="connsiteX7" fmla="*/ 0 w 2667000"/>
                <a:gd name="connsiteY7" fmla="*/ 2212258 h 2212258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1295400 w 2667000"/>
                <a:gd name="connsiteY5" fmla="*/ 884903 h 1327355"/>
                <a:gd name="connsiteX6" fmla="*/ 9144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1295400 w 2667000"/>
                <a:gd name="connsiteY5" fmla="*/ 884903 h 1327355"/>
                <a:gd name="connsiteX6" fmla="*/ 6096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914400 w 2667000"/>
                <a:gd name="connsiteY5" fmla="*/ 884903 h 1327355"/>
                <a:gd name="connsiteX6" fmla="*/ 6096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914400 w 2667000"/>
                <a:gd name="connsiteY5" fmla="*/ 1150374 h 1327355"/>
                <a:gd name="connsiteX6" fmla="*/ 6096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600200 w 2667000"/>
                <a:gd name="connsiteY4" fmla="*/ 1327355 h 1327355"/>
                <a:gd name="connsiteX5" fmla="*/ 914400 w 2667000"/>
                <a:gd name="connsiteY5" fmla="*/ 1150374 h 1327355"/>
                <a:gd name="connsiteX6" fmla="*/ 762000 w 2667000"/>
                <a:gd name="connsiteY6" fmla="*/ 1327355 h 1327355"/>
                <a:gd name="connsiteX7" fmla="*/ 0 w 2667000"/>
                <a:gd name="connsiteY7" fmla="*/ 1327355 h 1327355"/>
                <a:gd name="connsiteX0" fmla="*/ 0 w 2667000"/>
                <a:gd name="connsiteY0" fmla="*/ 1327355 h 1327355"/>
                <a:gd name="connsiteX1" fmla="*/ 457200 w 2667000"/>
                <a:gd name="connsiteY1" fmla="*/ 0 h 1327355"/>
                <a:gd name="connsiteX2" fmla="*/ 2133600 w 2667000"/>
                <a:gd name="connsiteY2" fmla="*/ 0 h 1327355"/>
                <a:gd name="connsiteX3" fmla="*/ 2667000 w 2667000"/>
                <a:gd name="connsiteY3" fmla="*/ 1327355 h 1327355"/>
                <a:gd name="connsiteX4" fmla="*/ 1066800 w 2667000"/>
                <a:gd name="connsiteY4" fmla="*/ 1327355 h 1327355"/>
                <a:gd name="connsiteX5" fmla="*/ 914400 w 2667000"/>
                <a:gd name="connsiteY5" fmla="*/ 1150374 h 1327355"/>
                <a:gd name="connsiteX6" fmla="*/ 762000 w 2667000"/>
                <a:gd name="connsiteY6" fmla="*/ 1327355 h 1327355"/>
                <a:gd name="connsiteX7" fmla="*/ 0 w 2667000"/>
                <a:gd name="connsiteY7" fmla="*/ 1327355 h 1327355"/>
                <a:gd name="connsiteX0" fmla="*/ 0 w 2133600"/>
                <a:gd name="connsiteY0" fmla="*/ 1327355 h 1327355"/>
                <a:gd name="connsiteX1" fmla="*/ 457200 w 2133600"/>
                <a:gd name="connsiteY1" fmla="*/ 0 h 1327355"/>
                <a:gd name="connsiteX2" fmla="*/ 2133600 w 2133600"/>
                <a:gd name="connsiteY2" fmla="*/ 0 h 1327355"/>
                <a:gd name="connsiteX3" fmla="*/ 1828800 w 2133600"/>
                <a:gd name="connsiteY3" fmla="*/ 1327355 h 1327355"/>
                <a:gd name="connsiteX4" fmla="*/ 1066800 w 2133600"/>
                <a:gd name="connsiteY4" fmla="*/ 1327355 h 1327355"/>
                <a:gd name="connsiteX5" fmla="*/ 914400 w 2133600"/>
                <a:gd name="connsiteY5" fmla="*/ 1150374 h 1327355"/>
                <a:gd name="connsiteX6" fmla="*/ 762000 w 2133600"/>
                <a:gd name="connsiteY6" fmla="*/ 1327355 h 1327355"/>
                <a:gd name="connsiteX7" fmla="*/ 0 w 2133600"/>
                <a:gd name="connsiteY7" fmla="*/ 1327355 h 1327355"/>
                <a:gd name="connsiteX0" fmla="*/ 0 w 1828800"/>
                <a:gd name="connsiteY0" fmla="*/ 1327355 h 1327355"/>
                <a:gd name="connsiteX1" fmla="*/ 457200 w 1828800"/>
                <a:gd name="connsiteY1" fmla="*/ 0 h 1327355"/>
                <a:gd name="connsiteX2" fmla="*/ 1371600 w 1828800"/>
                <a:gd name="connsiteY2" fmla="*/ 265471 h 1327355"/>
                <a:gd name="connsiteX3" fmla="*/ 1828800 w 1828800"/>
                <a:gd name="connsiteY3" fmla="*/ 1327355 h 1327355"/>
                <a:gd name="connsiteX4" fmla="*/ 1066800 w 1828800"/>
                <a:gd name="connsiteY4" fmla="*/ 1327355 h 1327355"/>
                <a:gd name="connsiteX5" fmla="*/ 914400 w 1828800"/>
                <a:gd name="connsiteY5" fmla="*/ 1150374 h 1327355"/>
                <a:gd name="connsiteX6" fmla="*/ 762000 w 1828800"/>
                <a:gd name="connsiteY6" fmla="*/ 1327355 h 1327355"/>
                <a:gd name="connsiteX7" fmla="*/ 0 w 1828800"/>
                <a:gd name="connsiteY7" fmla="*/ 1327355 h 1327355"/>
                <a:gd name="connsiteX0" fmla="*/ 0 w 1828800"/>
                <a:gd name="connsiteY0" fmla="*/ 1061884 h 1061884"/>
                <a:gd name="connsiteX1" fmla="*/ 152400 w 1828800"/>
                <a:gd name="connsiteY1" fmla="*/ 0 h 1061884"/>
                <a:gd name="connsiteX2" fmla="*/ 13716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152400 w 1828800"/>
                <a:gd name="connsiteY1" fmla="*/ 0 h 1061884"/>
                <a:gd name="connsiteX2" fmla="*/ 16764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457200 w 1828800"/>
                <a:gd name="connsiteY1" fmla="*/ 0 h 1061884"/>
                <a:gd name="connsiteX2" fmla="*/ 16764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457200 w 1828800"/>
                <a:gd name="connsiteY1" fmla="*/ 0 h 1061884"/>
                <a:gd name="connsiteX2" fmla="*/ 13716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457200 w 1828800"/>
                <a:gd name="connsiteY1" fmla="*/ 0 h 1061884"/>
                <a:gd name="connsiteX2" fmla="*/ 14478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381000 w 1828800"/>
                <a:gd name="connsiteY1" fmla="*/ 0 h 1061884"/>
                <a:gd name="connsiteX2" fmla="*/ 14478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88490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  <a:gd name="connsiteX0" fmla="*/ 0 w 1828800"/>
                <a:gd name="connsiteY0" fmla="*/ 1061884 h 1061884"/>
                <a:gd name="connsiteX1" fmla="*/ 381000 w 1828800"/>
                <a:gd name="connsiteY1" fmla="*/ 0 h 1061884"/>
                <a:gd name="connsiteX2" fmla="*/ 1447800 w 1828800"/>
                <a:gd name="connsiteY2" fmla="*/ 0 h 1061884"/>
                <a:gd name="connsiteX3" fmla="*/ 1828800 w 1828800"/>
                <a:gd name="connsiteY3" fmla="*/ 1061884 h 1061884"/>
                <a:gd name="connsiteX4" fmla="*/ 1066800 w 1828800"/>
                <a:gd name="connsiteY4" fmla="*/ 1061884 h 1061884"/>
                <a:gd name="connsiteX5" fmla="*/ 914400 w 1828800"/>
                <a:gd name="connsiteY5" fmla="*/ 796413 h 1061884"/>
                <a:gd name="connsiteX6" fmla="*/ 762000 w 1828800"/>
                <a:gd name="connsiteY6" fmla="*/ 1061884 h 1061884"/>
                <a:gd name="connsiteX7" fmla="*/ 0 w 1828800"/>
                <a:gd name="connsiteY7" fmla="*/ 1061884 h 106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28800" h="1061884">
                  <a:moveTo>
                    <a:pt x="0" y="1061884"/>
                  </a:moveTo>
                  <a:lnTo>
                    <a:pt x="381000" y="0"/>
                  </a:lnTo>
                  <a:lnTo>
                    <a:pt x="1447800" y="0"/>
                  </a:lnTo>
                  <a:lnTo>
                    <a:pt x="1828800" y="1061884"/>
                  </a:lnTo>
                  <a:lnTo>
                    <a:pt x="1066800" y="1061884"/>
                  </a:lnTo>
                  <a:lnTo>
                    <a:pt x="914400" y="796413"/>
                  </a:lnTo>
                  <a:lnTo>
                    <a:pt x="762000" y="1061884"/>
                  </a:lnTo>
                  <a:lnTo>
                    <a:pt x="0" y="1061884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r"/>
              <a:r>
                <a:rPr lang="en-US" sz="1100" dirty="0" smtClean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ALU1</a:t>
              </a:r>
              <a:endPara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825345" y="3505200"/>
              <a:ext cx="4572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/>
                <a:t>Zero</a:t>
              </a:r>
              <a:endParaRPr lang="en-US" dirty="0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705600" y="4027710"/>
              <a:ext cx="5965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/>
                <a:t>Result</a:t>
              </a:r>
              <a:endParaRPr lang="en-US" dirty="0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7543800" y="1295400"/>
            <a:ext cx="419095" cy="381000"/>
            <a:chOff x="7301669" y="1176864"/>
            <a:chExt cx="335276" cy="381000"/>
          </a:xfrm>
        </p:grpSpPr>
        <p:cxnSp>
          <p:nvCxnSpPr>
            <p:cNvPr id="79" name="Straight Arrow Connector 78"/>
            <p:cNvCxnSpPr/>
            <p:nvPr/>
          </p:nvCxnSpPr>
          <p:spPr>
            <a:xfrm>
              <a:off x="7484545" y="1176864"/>
              <a:ext cx="152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7484539" y="1176864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>
              <a:off x="7301669" y="1557864"/>
              <a:ext cx="1828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/>
          <p:cNvGrpSpPr/>
          <p:nvPr/>
        </p:nvGrpSpPr>
        <p:grpSpPr>
          <a:xfrm flipV="1">
            <a:off x="6595536" y="1392244"/>
            <a:ext cx="262464" cy="304800"/>
            <a:chOff x="7394224" y="1143000"/>
            <a:chExt cx="174976" cy="685800"/>
          </a:xfrm>
        </p:grpSpPr>
        <p:cxnSp>
          <p:nvCxnSpPr>
            <p:cNvPr id="131" name="Straight Arrow Connector 130"/>
            <p:cNvCxnSpPr/>
            <p:nvPr/>
          </p:nvCxnSpPr>
          <p:spPr>
            <a:xfrm flipV="1">
              <a:off x="7467600" y="1143000"/>
              <a:ext cx="1016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>
              <a:off x="7467600" y="1143000"/>
              <a:ext cx="0" cy="685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7394224" y="1828800"/>
              <a:ext cx="7337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2" name="Straight Arrow Connector 141"/>
          <p:cNvCxnSpPr/>
          <p:nvPr/>
        </p:nvCxnSpPr>
        <p:spPr>
          <a:xfrm>
            <a:off x="304800" y="3810000"/>
            <a:ext cx="2286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304800" y="76200"/>
            <a:ext cx="8686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304800" y="76200"/>
            <a:ext cx="0" cy="3733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/>
          <p:nvPr/>
        </p:nvCxnSpPr>
        <p:spPr>
          <a:xfrm flipH="1">
            <a:off x="8915400" y="914400"/>
            <a:ext cx="76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>
            <a:off x="8991600" y="76200"/>
            <a:ext cx="0" cy="838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Group 160"/>
          <p:cNvGrpSpPr/>
          <p:nvPr/>
        </p:nvGrpSpPr>
        <p:grpSpPr>
          <a:xfrm>
            <a:off x="7467600" y="3429000"/>
            <a:ext cx="904821" cy="1481328"/>
            <a:chOff x="2438400" y="3581400"/>
            <a:chExt cx="1649413" cy="2057400"/>
          </a:xfrm>
        </p:grpSpPr>
        <p:sp>
          <p:nvSpPr>
            <p:cNvPr id="162" name="Rectangle 161"/>
            <p:cNvSpPr/>
            <p:nvPr/>
          </p:nvSpPr>
          <p:spPr>
            <a:xfrm>
              <a:off x="2438400" y="3581400"/>
              <a:ext cx="1600200" cy="2057400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dirty="0" smtClean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Data memory</a:t>
              </a:r>
              <a:endParaRPr lang="en-US" sz="11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2438400" y="4282850"/>
              <a:ext cx="1500187" cy="320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/>
                <a:t>Address</a:t>
              </a:r>
              <a:endParaRPr lang="en-US" sz="900" dirty="0"/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2716212" y="5059967"/>
              <a:ext cx="1371601" cy="320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 smtClean="0"/>
                <a:t>Read data</a:t>
              </a:r>
              <a:endParaRPr lang="en-US" sz="900" dirty="0"/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7467600" y="4245375"/>
            <a:ext cx="8229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Write data</a:t>
            </a:r>
            <a:endParaRPr lang="en-US" sz="900" dirty="0"/>
          </a:p>
        </p:txBody>
      </p:sp>
      <p:grpSp>
        <p:nvGrpSpPr>
          <p:cNvPr id="170" name="Group 169"/>
          <p:cNvGrpSpPr/>
          <p:nvPr/>
        </p:nvGrpSpPr>
        <p:grpSpPr>
          <a:xfrm>
            <a:off x="5638800" y="3810000"/>
            <a:ext cx="381000" cy="914400"/>
            <a:chOff x="5677986" y="3048000"/>
            <a:chExt cx="418014" cy="914400"/>
          </a:xfrm>
        </p:grpSpPr>
        <p:sp>
          <p:nvSpPr>
            <p:cNvPr id="171" name="Flowchart: Terminator 170"/>
            <p:cNvSpPr/>
            <p:nvPr/>
          </p:nvSpPr>
          <p:spPr>
            <a:xfrm rot="5400000">
              <a:off x="5448300" y="3314700"/>
              <a:ext cx="914400" cy="381000"/>
            </a:xfrm>
            <a:prstGeom prst="flowChartTerminator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M</a:t>
              </a:r>
            </a:p>
            <a:p>
              <a:pPr algn="ctr"/>
              <a:r>
                <a:rPr lang="en-US" sz="1000" dirty="0">
                  <a:solidFill>
                    <a:schemeClr val="bg2">
                      <a:lumMod val="75000"/>
                    </a:schemeClr>
                  </a:solidFill>
                </a:rPr>
                <a:t>u</a:t>
              </a:r>
              <a:endParaRPr lang="en-US" sz="1000" dirty="0" smtClean="0">
                <a:solidFill>
                  <a:schemeClr val="bg2">
                    <a:lumMod val="75000"/>
                  </a:schemeClr>
                </a:solidFill>
              </a:endParaRPr>
            </a:p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X</a:t>
              </a:r>
            </a:p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1</a:t>
              </a:r>
              <a:endParaRPr 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5677986" y="3158982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/>
                <a:t>0</a:t>
              </a:r>
              <a:endParaRPr lang="en-US" sz="900" dirty="0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5677986" y="3657600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1</a:t>
              </a:r>
            </a:p>
          </p:txBody>
        </p:sp>
      </p:grpSp>
      <p:cxnSp>
        <p:nvCxnSpPr>
          <p:cNvPr id="175" name="Straight Connector 174"/>
          <p:cNvCxnSpPr/>
          <p:nvPr/>
        </p:nvCxnSpPr>
        <p:spPr>
          <a:xfrm>
            <a:off x="6019800" y="42672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8" name="Group 197"/>
          <p:cNvGrpSpPr/>
          <p:nvPr/>
        </p:nvGrpSpPr>
        <p:grpSpPr>
          <a:xfrm>
            <a:off x="6934200" y="3276600"/>
            <a:ext cx="516466" cy="533400"/>
            <a:chOff x="6798734" y="3276600"/>
            <a:chExt cx="516466" cy="533400"/>
          </a:xfrm>
        </p:grpSpPr>
        <p:cxnSp>
          <p:nvCxnSpPr>
            <p:cNvPr id="190" name="Straight Connector 189"/>
            <p:cNvCxnSpPr/>
            <p:nvPr/>
          </p:nvCxnSpPr>
          <p:spPr>
            <a:xfrm>
              <a:off x="7162800" y="3276600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 flipH="1">
              <a:off x="6798734" y="3810000"/>
              <a:ext cx="3640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/>
          </p:nvCxnSpPr>
          <p:spPr>
            <a:xfrm>
              <a:off x="7162800" y="3276600"/>
              <a:ext cx="0" cy="533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1" name="Straight Connector 200"/>
          <p:cNvCxnSpPr/>
          <p:nvPr/>
        </p:nvCxnSpPr>
        <p:spPr>
          <a:xfrm>
            <a:off x="8362950" y="46228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Group 224"/>
          <p:cNvGrpSpPr/>
          <p:nvPr/>
        </p:nvGrpSpPr>
        <p:grpSpPr>
          <a:xfrm>
            <a:off x="3733800" y="4572000"/>
            <a:ext cx="5257800" cy="2133600"/>
            <a:chOff x="3733800" y="4572000"/>
            <a:chExt cx="5257800" cy="2133600"/>
          </a:xfrm>
        </p:grpSpPr>
        <p:cxnSp>
          <p:nvCxnSpPr>
            <p:cNvPr id="213" name="Straight Connector 212"/>
            <p:cNvCxnSpPr/>
            <p:nvPr/>
          </p:nvCxnSpPr>
          <p:spPr>
            <a:xfrm>
              <a:off x="8991600" y="48768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4" name="Group 223"/>
            <p:cNvGrpSpPr/>
            <p:nvPr/>
          </p:nvGrpSpPr>
          <p:grpSpPr>
            <a:xfrm>
              <a:off x="3733800" y="4572000"/>
              <a:ext cx="5257800" cy="2133600"/>
              <a:chOff x="3733800" y="4572000"/>
              <a:chExt cx="5257800" cy="2133600"/>
            </a:xfrm>
          </p:grpSpPr>
          <p:cxnSp>
            <p:nvCxnSpPr>
              <p:cNvPr id="208" name="Straight Arrow Connector 207"/>
              <p:cNvCxnSpPr/>
              <p:nvPr/>
            </p:nvCxnSpPr>
            <p:spPr>
              <a:xfrm>
                <a:off x="3733800" y="4572000"/>
                <a:ext cx="152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/>
              <p:cNvCxnSpPr/>
              <p:nvPr/>
            </p:nvCxnSpPr>
            <p:spPr>
              <a:xfrm>
                <a:off x="3733800" y="4572000"/>
                <a:ext cx="0" cy="21336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/>
              <p:cNvCxnSpPr/>
              <p:nvPr/>
            </p:nvCxnSpPr>
            <p:spPr>
              <a:xfrm>
                <a:off x="8893175" y="4876800"/>
                <a:ext cx="9842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/>
              <p:cNvCxnSpPr/>
              <p:nvPr/>
            </p:nvCxnSpPr>
            <p:spPr>
              <a:xfrm>
                <a:off x="3733800" y="6705600"/>
                <a:ext cx="5257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2" name="Group 251"/>
          <p:cNvGrpSpPr/>
          <p:nvPr/>
        </p:nvGrpSpPr>
        <p:grpSpPr>
          <a:xfrm>
            <a:off x="6477000" y="4419600"/>
            <a:ext cx="152400" cy="1524000"/>
            <a:chOff x="6477000" y="4419600"/>
            <a:chExt cx="152400" cy="1524000"/>
          </a:xfrm>
        </p:grpSpPr>
        <p:cxnSp>
          <p:nvCxnSpPr>
            <p:cNvPr id="243" name="Straight Connector 242"/>
            <p:cNvCxnSpPr/>
            <p:nvPr/>
          </p:nvCxnSpPr>
          <p:spPr>
            <a:xfrm>
              <a:off x="6629400" y="4419600"/>
              <a:ext cx="0" cy="1524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>
              <a:off x="6477000" y="5943600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9" name="Group 398"/>
          <p:cNvGrpSpPr/>
          <p:nvPr/>
        </p:nvGrpSpPr>
        <p:grpSpPr>
          <a:xfrm>
            <a:off x="3810000" y="2362200"/>
            <a:ext cx="685800" cy="609600"/>
            <a:chOff x="3810000" y="2362200"/>
            <a:chExt cx="685800" cy="609600"/>
          </a:xfrm>
        </p:grpSpPr>
        <p:cxnSp>
          <p:nvCxnSpPr>
            <p:cNvPr id="369" name="Straight Connector 368"/>
            <p:cNvCxnSpPr/>
            <p:nvPr/>
          </p:nvCxnSpPr>
          <p:spPr>
            <a:xfrm>
              <a:off x="4495800" y="2514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/>
          </p:nvCxnSpPr>
          <p:spPr>
            <a:xfrm>
              <a:off x="3810000" y="2514600"/>
              <a:ext cx="685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TextBox 373"/>
            <p:cNvSpPr txBox="1"/>
            <p:nvPr/>
          </p:nvSpPr>
          <p:spPr>
            <a:xfrm>
              <a:off x="3962400" y="2362200"/>
              <a:ext cx="5334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RegWrite</a:t>
              </a:r>
              <a:endParaRPr lang="en-US" sz="700" dirty="0" smtClean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cxnSp>
        <p:nvCxnSpPr>
          <p:cNvPr id="384" name="Straight Arrow Connector 383"/>
          <p:cNvCxnSpPr/>
          <p:nvPr/>
        </p:nvCxnSpPr>
        <p:spPr>
          <a:xfrm>
            <a:off x="5105400" y="3581400"/>
            <a:ext cx="1143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/>
          <p:cNvCxnSpPr/>
          <p:nvPr/>
        </p:nvCxnSpPr>
        <p:spPr>
          <a:xfrm>
            <a:off x="3962400" y="2209800"/>
            <a:ext cx="83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6" name="Group 555"/>
          <p:cNvGrpSpPr/>
          <p:nvPr/>
        </p:nvGrpSpPr>
        <p:grpSpPr>
          <a:xfrm>
            <a:off x="4114800" y="2057400"/>
            <a:ext cx="1752600" cy="1752600"/>
            <a:chOff x="4114800" y="2057400"/>
            <a:chExt cx="1752600" cy="1752600"/>
          </a:xfrm>
        </p:grpSpPr>
        <p:cxnSp>
          <p:nvCxnSpPr>
            <p:cNvPr id="378" name="Straight Connector 377"/>
            <p:cNvCxnSpPr/>
            <p:nvPr/>
          </p:nvCxnSpPr>
          <p:spPr>
            <a:xfrm>
              <a:off x="5867400" y="2743200"/>
              <a:ext cx="0" cy="1066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/>
            <p:cNvCxnSpPr/>
            <p:nvPr/>
          </p:nvCxnSpPr>
          <p:spPr>
            <a:xfrm>
              <a:off x="4800600" y="2743200"/>
              <a:ext cx="1066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/>
            <p:cNvCxnSpPr/>
            <p:nvPr/>
          </p:nvCxnSpPr>
          <p:spPr>
            <a:xfrm>
              <a:off x="4800600" y="2209800"/>
              <a:ext cx="0" cy="533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TextBox 470"/>
            <p:cNvSpPr txBox="1"/>
            <p:nvPr/>
          </p:nvSpPr>
          <p:spPr>
            <a:xfrm>
              <a:off x="4114800" y="2057400"/>
              <a:ext cx="5334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ALUSrc</a:t>
              </a:r>
              <a:endParaRPr lang="en-US" sz="700" dirty="0" smtClean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497" name="TextBox 496"/>
          <p:cNvSpPr txBox="1"/>
          <p:nvPr/>
        </p:nvSpPr>
        <p:spPr>
          <a:xfrm>
            <a:off x="2205567" y="1902371"/>
            <a:ext cx="762000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600" dirty="0" smtClean="0"/>
              <a:t>Instruction [15-12]</a:t>
            </a:r>
            <a:endParaRPr lang="en-US" sz="600" dirty="0"/>
          </a:p>
        </p:txBody>
      </p:sp>
      <p:grpSp>
        <p:nvGrpSpPr>
          <p:cNvPr id="500" name="Group 499"/>
          <p:cNvGrpSpPr/>
          <p:nvPr/>
        </p:nvGrpSpPr>
        <p:grpSpPr>
          <a:xfrm>
            <a:off x="914401" y="381000"/>
            <a:ext cx="405384" cy="3300418"/>
            <a:chOff x="914401" y="381000"/>
            <a:chExt cx="405384" cy="3300418"/>
          </a:xfrm>
        </p:grpSpPr>
        <p:grpSp>
          <p:nvGrpSpPr>
            <p:cNvPr id="65" name="Group 64"/>
            <p:cNvGrpSpPr/>
            <p:nvPr/>
          </p:nvGrpSpPr>
          <p:grpSpPr>
            <a:xfrm>
              <a:off x="914401" y="381000"/>
              <a:ext cx="405384" cy="3276600"/>
              <a:chOff x="1595967" y="-6019"/>
              <a:chExt cx="563033" cy="3899474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1701799" y="-6019"/>
                <a:ext cx="457201" cy="3892219"/>
                <a:chOff x="1701799" y="-6019"/>
                <a:chExt cx="457201" cy="3892219"/>
              </a:xfrm>
            </p:grpSpPr>
            <p:cxnSp>
              <p:nvCxnSpPr>
                <p:cNvPr id="49" name="Straight Arrow Connector 48"/>
                <p:cNvCxnSpPr/>
                <p:nvPr/>
              </p:nvCxnSpPr>
              <p:spPr>
                <a:xfrm>
                  <a:off x="1701800" y="-6019"/>
                  <a:ext cx="4572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1701799" y="-6019"/>
                  <a:ext cx="1" cy="38922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3" name="Straight Arrow Connector 62"/>
              <p:cNvCxnSpPr/>
              <p:nvPr/>
            </p:nvCxnSpPr>
            <p:spPr>
              <a:xfrm>
                <a:off x="1595967" y="3893455"/>
                <a:ext cx="42333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9" name="Oval 498"/>
            <p:cNvSpPr/>
            <p:nvPr/>
          </p:nvSpPr>
          <p:spPr>
            <a:xfrm>
              <a:off x="967113" y="3635699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3" name="Group 502"/>
          <p:cNvGrpSpPr/>
          <p:nvPr/>
        </p:nvGrpSpPr>
        <p:grpSpPr>
          <a:xfrm>
            <a:off x="5105400" y="4016368"/>
            <a:ext cx="2362200" cy="1012832"/>
            <a:chOff x="5105400" y="4016368"/>
            <a:chExt cx="2362200" cy="1012832"/>
          </a:xfrm>
        </p:grpSpPr>
        <p:grpSp>
          <p:nvGrpSpPr>
            <p:cNvPr id="438" name="Group 437"/>
            <p:cNvGrpSpPr/>
            <p:nvPr/>
          </p:nvGrpSpPr>
          <p:grpSpPr>
            <a:xfrm>
              <a:off x="5105400" y="4038600"/>
              <a:ext cx="2362200" cy="990600"/>
              <a:chOff x="5105400" y="4038600"/>
              <a:chExt cx="2362200" cy="990600"/>
            </a:xfrm>
          </p:grpSpPr>
          <p:cxnSp>
            <p:nvCxnSpPr>
              <p:cNvPr id="275" name="Straight Arrow Connector 274"/>
              <p:cNvCxnSpPr/>
              <p:nvPr/>
            </p:nvCxnSpPr>
            <p:spPr>
              <a:xfrm>
                <a:off x="5105400" y="4038600"/>
                <a:ext cx="533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Arrow Connector 423"/>
              <p:cNvCxnSpPr/>
              <p:nvPr/>
            </p:nvCxnSpPr>
            <p:spPr>
              <a:xfrm>
                <a:off x="7315200" y="4343400"/>
                <a:ext cx="152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/>
              <p:cNvCxnSpPr/>
              <p:nvPr/>
            </p:nvCxnSpPr>
            <p:spPr>
              <a:xfrm>
                <a:off x="5257800" y="5029200"/>
                <a:ext cx="20574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/>
              <p:cNvCxnSpPr/>
              <p:nvPr/>
            </p:nvCxnSpPr>
            <p:spPr>
              <a:xfrm>
                <a:off x="7315200" y="4343400"/>
                <a:ext cx="0" cy="6858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Straight Connector 434"/>
              <p:cNvCxnSpPr/>
              <p:nvPr/>
            </p:nvCxnSpPr>
            <p:spPr>
              <a:xfrm flipV="1">
                <a:off x="5257800" y="4038600"/>
                <a:ext cx="0" cy="9906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1" name="Oval 500"/>
            <p:cNvSpPr/>
            <p:nvPr/>
          </p:nvSpPr>
          <p:spPr>
            <a:xfrm>
              <a:off x="5237156" y="4016368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5" name="Group 504"/>
          <p:cNvGrpSpPr/>
          <p:nvPr/>
        </p:nvGrpSpPr>
        <p:grpSpPr>
          <a:xfrm>
            <a:off x="5063064" y="1524000"/>
            <a:ext cx="880536" cy="4117327"/>
            <a:chOff x="5063064" y="1524000"/>
            <a:chExt cx="880536" cy="4117327"/>
          </a:xfrm>
        </p:grpSpPr>
        <p:cxnSp>
          <p:nvCxnSpPr>
            <p:cNvPr id="270" name="Straight Arrow Connector 269"/>
            <p:cNvCxnSpPr/>
            <p:nvPr/>
          </p:nvCxnSpPr>
          <p:spPr>
            <a:xfrm>
              <a:off x="5486400" y="4572000"/>
              <a:ext cx="152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4" name="Group 503"/>
            <p:cNvGrpSpPr/>
            <p:nvPr/>
          </p:nvGrpSpPr>
          <p:grpSpPr>
            <a:xfrm>
              <a:off x="5063064" y="1524000"/>
              <a:ext cx="880536" cy="4117327"/>
              <a:chOff x="5063064" y="1524000"/>
              <a:chExt cx="880536" cy="4117327"/>
            </a:xfrm>
          </p:grpSpPr>
          <p:grpSp>
            <p:nvGrpSpPr>
              <p:cNvPr id="476" name="Group 475"/>
              <p:cNvGrpSpPr/>
              <p:nvPr/>
            </p:nvGrpSpPr>
            <p:grpSpPr>
              <a:xfrm>
                <a:off x="5063064" y="1524000"/>
                <a:ext cx="880536" cy="4117327"/>
                <a:chOff x="5063064" y="1524000"/>
                <a:chExt cx="880536" cy="4117327"/>
              </a:xfrm>
            </p:grpSpPr>
            <p:cxnSp>
              <p:nvCxnSpPr>
                <p:cNvPr id="265" name="Straight Connector 264"/>
                <p:cNvCxnSpPr/>
                <p:nvPr/>
              </p:nvCxnSpPr>
              <p:spPr>
                <a:xfrm>
                  <a:off x="5486400" y="1524000"/>
                  <a:ext cx="0" cy="381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42" name="Group 441"/>
                <p:cNvGrpSpPr/>
                <p:nvPr/>
              </p:nvGrpSpPr>
              <p:grpSpPr>
                <a:xfrm>
                  <a:off x="5063064" y="1524000"/>
                  <a:ext cx="880536" cy="4117327"/>
                  <a:chOff x="5063064" y="1524000"/>
                  <a:chExt cx="880536" cy="4117327"/>
                </a:xfrm>
              </p:grpSpPr>
              <p:cxnSp>
                <p:nvCxnSpPr>
                  <p:cNvPr id="267" name="Straight Arrow Connector 266"/>
                  <p:cNvCxnSpPr/>
                  <p:nvPr/>
                </p:nvCxnSpPr>
                <p:spPr>
                  <a:xfrm>
                    <a:off x="5486400" y="1524000"/>
                    <a:ext cx="457200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Straight Connector 276"/>
                  <p:cNvCxnSpPr/>
                  <p:nvPr/>
                </p:nvCxnSpPr>
                <p:spPr>
                  <a:xfrm>
                    <a:off x="5105400" y="5334000"/>
                    <a:ext cx="38100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Connector 280"/>
                  <p:cNvCxnSpPr/>
                  <p:nvPr/>
                </p:nvCxnSpPr>
                <p:spPr>
                  <a:xfrm flipV="1">
                    <a:off x="5150154" y="5257800"/>
                    <a:ext cx="152400" cy="1524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2" name="TextBox 281"/>
                  <p:cNvSpPr txBox="1"/>
                  <p:nvPr/>
                </p:nvSpPr>
                <p:spPr>
                  <a:xfrm>
                    <a:off x="5063064" y="5379717"/>
                    <a:ext cx="381000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dirty="0" smtClean="0"/>
                      <a:t>16</a:t>
                    </a:r>
                    <a:endParaRPr lang="en-US" sz="1050" dirty="0"/>
                  </a:p>
                </p:txBody>
              </p:sp>
            </p:grpSp>
          </p:grpSp>
          <p:sp>
            <p:nvSpPr>
              <p:cNvPr id="502" name="Oval 501"/>
              <p:cNvSpPr/>
              <p:nvPr/>
            </p:nvSpPr>
            <p:spPr>
              <a:xfrm>
                <a:off x="5463113" y="455083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09" name="Group 508"/>
          <p:cNvGrpSpPr/>
          <p:nvPr/>
        </p:nvGrpSpPr>
        <p:grpSpPr>
          <a:xfrm>
            <a:off x="6934200" y="4038600"/>
            <a:ext cx="1577975" cy="1143000"/>
            <a:chOff x="6934200" y="4038600"/>
            <a:chExt cx="1577975" cy="1143000"/>
          </a:xfrm>
        </p:grpSpPr>
        <p:grpSp>
          <p:nvGrpSpPr>
            <p:cNvPr id="247" name="Group 246"/>
            <p:cNvGrpSpPr/>
            <p:nvPr/>
          </p:nvGrpSpPr>
          <p:grpSpPr>
            <a:xfrm>
              <a:off x="6934200" y="4038600"/>
              <a:ext cx="1577975" cy="1143000"/>
              <a:chOff x="6934200" y="4038600"/>
              <a:chExt cx="1577975" cy="1143000"/>
            </a:xfrm>
          </p:grpSpPr>
          <p:grpSp>
            <p:nvGrpSpPr>
              <p:cNvPr id="246" name="Group 245"/>
              <p:cNvGrpSpPr/>
              <p:nvPr/>
            </p:nvGrpSpPr>
            <p:grpSpPr>
              <a:xfrm>
                <a:off x="6934200" y="4038600"/>
                <a:ext cx="533400" cy="1143000"/>
                <a:chOff x="6934200" y="4038600"/>
                <a:chExt cx="533400" cy="1143000"/>
              </a:xfrm>
            </p:grpSpPr>
            <p:cxnSp>
              <p:nvCxnSpPr>
                <p:cNvPr id="227" name="Straight Connector 226"/>
                <p:cNvCxnSpPr/>
                <p:nvPr/>
              </p:nvCxnSpPr>
              <p:spPr>
                <a:xfrm>
                  <a:off x="7162800" y="4038600"/>
                  <a:ext cx="3048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/>
              </p:nvCxnSpPr>
              <p:spPr>
                <a:xfrm>
                  <a:off x="7162800" y="4038600"/>
                  <a:ext cx="0" cy="1143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/>
                <p:cNvCxnSpPr/>
                <p:nvPr/>
              </p:nvCxnSpPr>
              <p:spPr>
                <a:xfrm>
                  <a:off x="6934200" y="4158345"/>
                  <a:ext cx="2286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9" name="Straight Arrow Connector 238"/>
              <p:cNvCxnSpPr/>
              <p:nvPr/>
            </p:nvCxnSpPr>
            <p:spPr>
              <a:xfrm>
                <a:off x="7162800" y="5181600"/>
                <a:ext cx="13493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8" name="Oval 507"/>
            <p:cNvSpPr/>
            <p:nvPr/>
          </p:nvSpPr>
          <p:spPr>
            <a:xfrm>
              <a:off x="7140901" y="4132268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5" name="Group 514"/>
          <p:cNvGrpSpPr/>
          <p:nvPr/>
        </p:nvGrpSpPr>
        <p:grpSpPr>
          <a:xfrm>
            <a:off x="3886200" y="2209800"/>
            <a:ext cx="2209800" cy="4419600"/>
            <a:chOff x="3886200" y="2209800"/>
            <a:chExt cx="2209800" cy="4419600"/>
          </a:xfrm>
        </p:grpSpPr>
        <p:grpSp>
          <p:nvGrpSpPr>
            <p:cNvPr id="498" name="Group 497"/>
            <p:cNvGrpSpPr/>
            <p:nvPr/>
          </p:nvGrpSpPr>
          <p:grpSpPr>
            <a:xfrm>
              <a:off x="3886200" y="2209800"/>
              <a:ext cx="2209800" cy="4419600"/>
              <a:chOff x="3886200" y="2209800"/>
              <a:chExt cx="2209800" cy="4419600"/>
            </a:xfrm>
          </p:grpSpPr>
          <p:cxnSp>
            <p:nvCxnSpPr>
              <p:cNvPr id="375" name="Straight Connector 374"/>
              <p:cNvCxnSpPr/>
              <p:nvPr/>
            </p:nvCxnSpPr>
            <p:spPr>
              <a:xfrm>
                <a:off x="3886200" y="2362200"/>
                <a:ext cx="762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6" name="TextBox 375"/>
              <p:cNvSpPr txBox="1"/>
              <p:nvPr/>
            </p:nvSpPr>
            <p:spPr>
              <a:xfrm>
                <a:off x="4038600" y="2209800"/>
                <a:ext cx="5334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ALUOp</a:t>
                </a:r>
                <a:endParaRPr lang="en-US" sz="7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  <p:cxnSp>
            <p:nvCxnSpPr>
              <p:cNvPr id="451" name="Straight Connector 450"/>
              <p:cNvCxnSpPr/>
              <p:nvPr/>
            </p:nvCxnSpPr>
            <p:spPr>
              <a:xfrm>
                <a:off x="4648200" y="2362200"/>
                <a:ext cx="0" cy="533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/>
              <p:cNvCxnSpPr/>
              <p:nvPr/>
            </p:nvCxnSpPr>
            <p:spPr>
              <a:xfrm>
                <a:off x="4648200" y="2895600"/>
                <a:ext cx="762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Straight Connector 480"/>
              <p:cNvCxnSpPr/>
              <p:nvPr/>
            </p:nvCxnSpPr>
            <p:spPr>
              <a:xfrm>
                <a:off x="5410200" y="2895600"/>
                <a:ext cx="0" cy="3733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Straight Connector 483"/>
              <p:cNvCxnSpPr/>
              <p:nvPr/>
            </p:nvCxnSpPr>
            <p:spPr>
              <a:xfrm>
                <a:off x="5410200" y="6629400"/>
                <a:ext cx="685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3" name="Straight Connector 512"/>
            <p:cNvCxnSpPr/>
            <p:nvPr/>
          </p:nvCxnSpPr>
          <p:spPr>
            <a:xfrm flipV="1">
              <a:off x="6096000" y="6553200"/>
              <a:ext cx="0" cy="7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6" name="Group 565"/>
          <p:cNvGrpSpPr/>
          <p:nvPr/>
        </p:nvGrpSpPr>
        <p:grpSpPr>
          <a:xfrm>
            <a:off x="3962400" y="1905000"/>
            <a:ext cx="3962400" cy="3429000"/>
            <a:chOff x="3962400" y="1905000"/>
            <a:chExt cx="3962400" cy="3429000"/>
          </a:xfrm>
        </p:grpSpPr>
        <p:sp>
          <p:nvSpPr>
            <p:cNvPr id="412" name="TextBox 411"/>
            <p:cNvSpPr txBox="1"/>
            <p:nvPr/>
          </p:nvSpPr>
          <p:spPr>
            <a:xfrm>
              <a:off x="4093635" y="1905000"/>
              <a:ext cx="6858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MemRead</a:t>
              </a:r>
              <a:endParaRPr lang="en-US" sz="700" dirty="0" smtClean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565" name="Group 564"/>
            <p:cNvGrpSpPr/>
            <p:nvPr/>
          </p:nvGrpSpPr>
          <p:grpSpPr>
            <a:xfrm>
              <a:off x="3962400" y="2057400"/>
              <a:ext cx="3962400" cy="3276600"/>
              <a:chOff x="3962400" y="2057400"/>
              <a:chExt cx="3962400" cy="3276600"/>
            </a:xfrm>
          </p:grpSpPr>
          <p:cxnSp>
            <p:nvCxnSpPr>
              <p:cNvPr id="402" name="Straight Connector 401"/>
              <p:cNvCxnSpPr/>
              <p:nvPr/>
            </p:nvCxnSpPr>
            <p:spPr>
              <a:xfrm>
                <a:off x="7924800" y="4953000"/>
                <a:ext cx="0" cy="381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/>
              <p:cNvCxnSpPr/>
              <p:nvPr/>
            </p:nvCxnSpPr>
            <p:spPr>
              <a:xfrm>
                <a:off x="7010400" y="5334000"/>
                <a:ext cx="914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Straight Connector 408"/>
              <p:cNvCxnSpPr/>
              <p:nvPr/>
            </p:nvCxnSpPr>
            <p:spPr>
              <a:xfrm flipV="1">
                <a:off x="7010400" y="2590800"/>
                <a:ext cx="0" cy="2743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/>
              <p:cNvCxnSpPr/>
              <p:nvPr/>
            </p:nvCxnSpPr>
            <p:spPr>
              <a:xfrm>
                <a:off x="3962400" y="2057400"/>
                <a:ext cx="990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Straight Connector 558"/>
              <p:cNvCxnSpPr/>
              <p:nvPr/>
            </p:nvCxnSpPr>
            <p:spPr>
              <a:xfrm flipV="1">
                <a:off x="4953000" y="2057400"/>
                <a:ext cx="0" cy="533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Straight Connector 561"/>
              <p:cNvCxnSpPr/>
              <p:nvPr/>
            </p:nvCxnSpPr>
            <p:spPr>
              <a:xfrm>
                <a:off x="4953000" y="2590800"/>
                <a:ext cx="2057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7" name="Group 606"/>
          <p:cNvGrpSpPr/>
          <p:nvPr/>
        </p:nvGrpSpPr>
        <p:grpSpPr>
          <a:xfrm>
            <a:off x="3962400" y="1752600"/>
            <a:ext cx="3962400" cy="1676400"/>
            <a:chOff x="3962400" y="1752600"/>
            <a:chExt cx="3962400" cy="1676400"/>
          </a:xfrm>
        </p:grpSpPr>
        <p:sp>
          <p:nvSpPr>
            <p:cNvPr id="593" name="TextBox 592"/>
            <p:cNvSpPr txBox="1"/>
            <p:nvPr/>
          </p:nvSpPr>
          <p:spPr>
            <a:xfrm>
              <a:off x="4059765" y="1752600"/>
              <a:ext cx="6096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MemWrite</a:t>
              </a:r>
              <a:endParaRPr lang="en-US" sz="700" dirty="0" smtClean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594" name="Straight Connector 593"/>
            <p:cNvCxnSpPr/>
            <p:nvPr/>
          </p:nvCxnSpPr>
          <p:spPr>
            <a:xfrm>
              <a:off x="3962400" y="1905000"/>
              <a:ext cx="1143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/>
            <p:cNvCxnSpPr/>
            <p:nvPr/>
          </p:nvCxnSpPr>
          <p:spPr>
            <a:xfrm>
              <a:off x="5105400" y="2438400"/>
              <a:ext cx="2819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/>
            <p:cNvCxnSpPr/>
            <p:nvPr/>
          </p:nvCxnSpPr>
          <p:spPr>
            <a:xfrm flipV="1">
              <a:off x="5105400" y="1905000"/>
              <a:ext cx="0" cy="533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/>
            <p:cNvCxnSpPr/>
            <p:nvPr/>
          </p:nvCxnSpPr>
          <p:spPr>
            <a:xfrm>
              <a:off x="7924800" y="2438400"/>
              <a:ext cx="0" cy="990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5" name="Group 614"/>
          <p:cNvGrpSpPr/>
          <p:nvPr/>
        </p:nvGrpSpPr>
        <p:grpSpPr>
          <a:xfrm>
            <a:off x="3962400" y="1600200"/>
            <a:ext cx="4724400" cy="2832100"/>
            <a:chOff x="3962400" y="1600200"/>
            <a:chExt cx="4724400" cy="2832100"/>
          </a:xfrm>
        </p:grpSpPr>
        <p:cxnSp>
          <p:nvCxnSpPr>
            <p:cNvPr id="581" name="Straight Connector 580"/>
            <p:cNvCxnSpPr/>
            <p:nvPr/>
          </p:nvCxnSpPr>
          <p:spPr>
            <a:xfrm flipV="1">
              <a:off x="8686800" y="2286000"/>
              <a:ext cx="0" cy="21463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TextBox 386"/>
            <p:cNvSpPr txBox="1"/>
            <p:nvPr/>
          </p:nvSpPr>
          <p:spPr>
            <a:xfrm>
              <a:off x="4038600" y="1600200"/>
              <a:ext cx="6096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MemtoReg</a:t>
              </a:r>
              <a:endParaRPr lang="en-US" sz="700" dirty="0" smtClean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386" name="Straight Connector 385"/>
            <p:cNvCxnSpPr/>
            <p:nvPr/>
          </p:nvCxnSpPr>
          <p:spPr>
            <a:xfrm>
              <a:off x="3962400" y="1752600"/>
              <a:ext cx="1295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/>
            <p:cNvCxnSpPr/>
            <p:nvPr/>
          </p:nvCxnSpPr>
          <p:spPr>
            <a:xfrm flipV="1">
              <a:off x="5257800" y="1752600"/>
              <a:ext cx="0" cy="533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/>
            <p:cNvCxnSpPr/>
            <p:nvPr/>
          </p:nvCxnSpPr>
          <p:spPr>
            <a:xfrm>
              <a:off x="5257800" y="2286000"/>
              <a:ext cx="3429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Oval 216"/>
          <p:cNvSpPr/>
          <p:nvPr/>
        </p:nvSpPr>
        <p:spPr>
          <a:xfrm>
            <a:off x="2438400" y="533400"/>
            <a:ext cx="635000" cy="762000"/>
          </a:xfrm>
          <a:prstGeom prst="ellipse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Left shift 1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58" name="Group 257"/>
          <p:cNvGrpSpPr/>
          <p:nvPr/>
        </p:nvGrpSpPr>
        <p:grpSpPr>
          <a:xfrm>
            <a:off x="8534400" y="533400"/>
            <a:ext cx="381000" cy="914400"/>
            <a:chOff x="5677986" y="3048000"/>
            <a:chExt cx="418014" cy="914400"/>
          </a:xfrm>
        </p:grpSpPr>
        <p:sp>
          <p:nvSpPr>
            <p:cNvPr id="259" name="Flowchart: Terminator 258"/>
            <p:cNvSpPr/>
            <p:nvPr/>
          </p:nvSpPr>
          <p:spPr>
            <a:xfrm rot="5400000">
              <a:off x="5448300" y="3314700"/>
              <a:ext cx="914400" cy="381000"/>
            </a:xfrm>
            <a:prstGeom prst="flowChartTerminator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M</a:t>
              </a:r>
            </a:p>
            <a:p>
              <a:pPr algn="ctr"/>
              <a:r>
                <a:rPr lang="en-US" sz="1000" dirty="0">
                  <a:solidFill>
                    <a:schemeClr val="bg2">
                      <a:lumMod val="75000"/>
                    </a:schemeClr>
                  </a:solidFill>
                </a:rPr>
                <a:t>u</a:t>
              </a:r>
              <a:endParaRPr lang="en-US" sz="1000" dirty="0" smtClean="0">
                <a:solidFill>
                  <a:schemeClr val="bg2">
                    <a:lumMod val="75000"/>
                  </a:schemeClr>
                </a:solidFill>
              </a:endParaRPr>
            </a:p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X</a:t>
              </a:r>
            </a:p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5677986" y="3158982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/>
                <a:t>1</a:t>
              </a:r>
              <a:endParaRPr lang="en-US" sz="900" dirty="0"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5677986" y="3657600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/>
                <a:t>0</a:t>
              </a:r>
              <a:endParaRPr lang="en-US" sz="900" dirty="0"/>
            </a:p>
          </p:txBody>
        </p:sp>
      </p:grpSp>
      <p:grpSp>
        <p:nvGrpSpPr>
          <p:cNvPr id="266" name="Group 265"/>
          <p:cNvGrpSpPr/>
          <p:nvPr/>
        </p:nvGrpSpPr>
        <p:grpSpPr>
          <a:xfrm flipV="1">
            <a:off x="8343913" y="1066800"/>
            <a:ext cx="228599" cy="228600"/>
            <a:chOff x="7393110" y="1176864"/>
            <a:chExt cx="182879" cy="381000"/>
          </a:xfrm>
        </p:grpSpPr>
        <p:cxnSp>
          <p:nvCxnSpPr>
            <p:cNvPr id="268" name="Straight Arrow Connector 267"/>
            <p:cNvCxnSpPr/>
            <p:nvPr/>
          </p:nvCxnSpPr>
          <p:spPr>
            <a:xfrm flipV="1">
              <a:off x="7484549" y="1176864"/>
              <a:ext cx="914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/>
          </p:nvCxnSpPr>
          <p:spPr>
            <a:xfrm>
              <a:off x="7484539" y="1176864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flipV="1">
              <a:off x="7393110" y="1557864"/>
              <a:ext cx="914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1" name="Group 290"/>
          <p:cNvGrpSpPr/>
          <p:nvPr/>
        </p:nvGrpSpPr>
        <p:grpSpPr>
          <a:xfrm>
            <a:off x="3886200" y="1295400"/>
            <a:ext cx="4876800" cy="685800"/>
            <a:chOff x="3886200" y="1295400"/>
            <a:chExt cx="4876800" cy="685800"/>
          </a:xfrm>
        </p:grpSpPr>
        <p:cxnSp>
          <p:nvCxnSpPr>
            <p:cNvPr id="223" name="Straight Connector 222"/>
            <p:cNvCxnSpPr/>
            <p:nvPr/>
          </p:nvCxnSpPr>
          <p:spPr>
            <a:xfrm>
              <a:off x="3886200" y="1447800"/>
              <a:ext cx="1676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Box 225"/>
            <p:cNvSpPr txBox="1"/>
            <p:nvPr/>
          </p:nvSpPr>
          <p:spPr>
            <a:xfrm>
              <a:off x="3962400" y="1295400"/>
              <a:ext cx="6096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Jump</a:t>
              </a:r>
            </a:p>
          </p:txBody>
        </p:sp>
        <p:cxnSp>
          <p:nvCxnSpPr>
            <p:cNvPr id="279" name="Straight Connector 278"/>
            <p:cNvCxnSpPr/>
            <p:nvPr/>
          </p:nvCxnSpPr>
          <p:spPr>
            <a:xfrm>
              <a:off x="5562600" y="1447800"/>
              <a:ext cx="0" cy="533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/>
          </p:nvCxnSpPr>
          <p:spPr>
            <a:xfrm>
              <a:off x="5562600" y="1981200"/>
              <a:ext cx="3200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/>
          </p:nvCxnSpPr>
          <p:spPr>
            <a:xfrm>
              <a:off x="8763000" y="1447800"/>
              <a:ext cx="0" cy="533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/>
        </p:nvGrpSpPr>
        <p:grpSpPr>
          <a:xfrm>
            <a:off x="1828800" y="356446"/>
            <a:ext cx="6141717" cy="426198"/>
            <a:chOff x="1828800" y="356446"/>
            <a:chExt cx="6141717" cy="426198"/>
          </a:xfrm>
        </p:grpSpPr>
        <p:grpSp>
          <p:nvGrpSpPr>
            <p:cNvPr id="507" name="Group 506"/>
            <p:cNvGrpSpPr/>
            <p:nvPr/>
          </p:nvGrpSpPr>
          <p:grpSpPr>
            <a:xfrm>
              <a:off x="6380156" y="356446"/>
              <a:ext cx="1590361" cy="426198"/>
              <a:chOff x="6380156" y="564402"/>
              <a:chExt cx="1590361" cy="426198"/>
            </a:xfrm>
          </p:grpSpPr>
          <p:grpSp>
            <p:nvGrpSpPr>
              <p:cNvPr id="140" name="Group 139"/>
              <p:cNvGrpSpPr/>
              <p:nvPr/>
            </p:nvGrpSpPr>
            <p:grpSpPr>
              <a:xfrm>
                <a:off x="6400800" y="588956"/>
                <a:ext cx="1569717" cy="401644"/>
                <a:chOff x="6400800" y="586754"/>
                <a:chExt cx="1569717" cy="401644"/>
              </a:xfrm>
            </p:grpSpPr>
            <p:cxnSp>
              <p:nvCxnSpPr>
                <p:cNvPr id="54" name="Straight Arrow Connector 53"/>
                <p:cNvCxnSpPr/>
                <p:nvPr/>
              </p:nvCxnSpPr>
              <p:spPr>
                <a:xfrm>
                  <a:off x="7848600" y="967754"/>
                  <a:ext cx="1219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/>
                <p:cNvCxnSpPr/>
                <p:nvPr/>
              </p:nvCxnSpPr>
              <p:spPr>
                <a:xfrm>
                  <a:off x="6400800" y="988398"/>
                  <a:ext cx="4572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/>
                <p:nvPr/>
              </p:nvCxnSpPr>
              <p:spPr>
                <a:xfrm>
                  <a:off x="6400800" y="586754"/>
                  <a:ext cx="0" cy="40164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6" name="Oval 505"/>
              <p:cNvSpPr/>
              <p:nvPr/>
            </p:nvSpPr>
            <p:spPr>
              <a:xfrm>
                <a:off x="6380156" y="56440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95" name="Straight Connector 294"/>
            <p:cNvCxnSpPr/>
            <p:nvPr/>
          </p:nvCxnSpPr>
          <p:spPr>
            <a:xfrm>
              <a:off x="7848600" y="381000"/>
              <a:ext cx="0" cy="3787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/>
          </p:nvCxnSpPr>
          <p:spPr>
            <a:xfrm>
              <a:off x="2057400" y="381000"/>
              <a:ext cx="5791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1828800" y="609600"/>
              <a:ext cx="228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>
              <a:off x="2057400" y="381000"/>
              <a:ext cx="0" cy="228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8" name="Group 277"/>
          <p:cNvGrpSpPr/>
          <p:nvPr/>
        </p:nvGrpSpPr>
        <p:grpSpPr>
          <a:xfrm>
            <a:off x="3098802" y="228600"/>
            <a:ext cx="5464383" cy="685800"/>
            <a:chOff x="3098802" y="228600"/>
            <a:chExt cx="5464383" cy="685800"/>
          </a:xfrm>
        </p:grpSpPr>
        <p:cxnSp>
          <p:nvCxnSpPr>
            <p:cNvPr id="251" name="Straight Arrow Connector 250"/>
            <p:cNvCxnSpPr/>
            <p:nvPr/>
          </p:nvCxnSpPr>
          <p:spPr>
            <a:xfrm>
              <a:off x="8458200" y="762000"/>
              <a:ext cx="10498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>
              <a:off x="8458200" y="228600"/>
              <a:ext cx="0" cy="5311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/>
          </p:nvCxnSpPr>
          <p:spPr>
            <a:xfrm>
              <a:off x="3352800" y="228600"/>
              <a:ext cx="5105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/>
          </p:nvCxnSpPr>
          <p:spPr>
            <a:xfrm>
              <a:off x="3098802" y="914400"/>
              <a:ext cx="2539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/>
          </p:nvCxnSpPr>
          <p:spPr>
            <a:xfrm>
              <a:off x="3352800" y="228600"/>
              <a:ext cx="0" cy="685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0" name="Straight Arrow Connector 279"/>
          <p:cNvCxnSpPr/>
          <p:nvPr/>
        </p:nvCxnSpPr>
        <p:spPr>
          <a:xfrm>
            <a:off x="2286000" y="914400"/>
            <a:ext cx="1524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/>
          <p:cNvSpPr txBox="1"/>
          <p:nvPr/>
        </p:nvSpPr>
        <p:spPr>
          <a:xfrm>
            <a:off x="2171703" y="1263134"/>
            <a:ext cx="762000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600" dirty="0" smtClean="0"/>
              <a:t>Instruction [11-0]</a:t>
            </a:r>
            <a:endParaRPr lang="en-US" sz="600" dirty="0"/>
          </a:p>
        </p:txBody>
      </p:sp>
      <p:sp>
        <p:nvSpPr>
          <p:cNvPr id="230" name="Flowchart: Delay 229"/>
          <p:cNvSpPr/>
          <p:nvPr/>
        </p:nvSpPr>
        <p:spPr>
          <a:xfrm>
            <a:off x="7315200" y="2819400"/>
            <a:ext cx="228600" cy="206829"/>
          </a:xfrm>
          <a:prstGeom prst="flowChartDelay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TextBox 232"/>
          <p:cNvSpPr txBox="1"/>
          <p:nvPr/>
        </p:nvSpPr>
        <p:spPr>
          <a:xfrm>
            <a:off x="6248400" y="3429000"/>
            <a:ext cx="7281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 smtClean="0"/>
              <a:t>Negative</a:t>
            </a:r>
            <a:endParaRPr lang="en-US" dirty="0"/>
          </a:p>
        </p:txBody>
      </p:sp>
      <p:grpSp>
        <p:nvGrpSpPr>
          <p:cNvPr id="287" name="Group 286"/>
          <p:cNvGrpSpPr/>
          <p:nvPr/>
        </p:nvGrpSpPr>
        <p:grpSpPr>
          <a:xfrm>
            <a:off x="6934200" y="2667000"/>
            <a:ext cx="381000" cy="914400"/>
            <a:chOff x="6934200" y="2667000"/>
            <a:chExt cx="381000" cy="914400"/>
          </a:xfrm>
        </p:grpSpPr>
        <p:grpSp>
          <p:nvGrpSpPr>
            <p:cNvPr id="283" name="Group 282"/>
            <p:cNvGrpSpPr/>
            <p:nvPr/>
          </p:nvGrpSpPr>
          <p:grpSpPr>
            <a:xfrm>
              <a:off x="6934200" y="2667000"/>
              <a:ext cx="381000" cy="914400"/>
              <a:chOff x="6934200" y="2667000"/>
              <a:chExt cx="381000" cy="914400"/>
            </a:xfrm>
          </p:grpSpPr>
          <p:grpSp>
            <p:nvGrpSpPr>
              <p:cNvPr id="242" name="Group 241"/>
              <p:cNvGrpSpPr/>
              <p:nvPr/>
            </p:nvGrpSpPr>
            <p:grpSpPr>
              <a:xfrm>
                <a:off x="6934200" y="2667000"/>
                <a:ext cx="381000" cy="914400"/>
                <a:chOff x="6858000" y="2971800"/>
                <a:chExt cx="381000" cy="914400"/>
              </a:xfrm>
            </p:grpSpPr>
            <p:cxnSp>
              <p:nvCxnSpPr>
                <p:cNvPr id="244" name="Straight Connector 243"/>
                <p:cNvCxnSpPr/>
                <p:nvPr/>
              </p:nvCxnSpPr>
              <p:spPr>
                <a:xfrm>
                  <a:off x="7162800" y="3276600"/>
                  <a:ext cx="762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/>
              </p:nvCxnSpPr>
              <p:spPr>
                <a:xfrm flipH="1">
                  <a:off x="6858000" y="3886200"/>
                  <a:ext cx="3048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/>
                <p:cNvCxnSpPr/>
                <p:nvPr/>
              </p:nvCxnSpPr>
              <p:spPr>
                <a:xfrm>
                  <a:off x="7162800" y="2971800"/>
                  <a:ext cx="0" cy="9144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3" name="Straight Connector 272"/>
              <p:cNvCxnSpPr/>
              <p:nvPr/>
            </p:nvCxnSpPr>
            <p:spPr>
              <a:xfrm>
                <a:off x="7239000" y="2667000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4" name="Oval 283"/>
            <p:cNvSpPr/>
            <p:nvPr/>
          </p:nvSpPr>
          <p:spPr>
            <a:xfrm>
              <a:off x="7219944" y="2951465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4" name="Group 333"/>
          <p:cNvGrpSpPr/>
          <p:nvPr/>
        </p:nvGrpSpPr>
        <p:grpSpPr>
          <a:xfrm>
            <a:off x="3933825" y="1447800"/>
            <a:ext cx="3533775" cy="1752600"/>
            <a:chOff x="3933825" y="1447800"/>
            <a:chExt cx="3533775" cy="1752600"/>
          </a:xfrm>
        </p:grpSpPr>
        <p:grpSp>
          <p:nvGrpSpPr>
            <p:cNvPr id="641" name="Group 640"/>
            <p:cNvGrpSpPr/>
            <p:nvPr/>
          </p:nvGrpSpPr>
          <p:grpSpPr>
            <a:xfrm>
              <a:off x="3933825" y="1447800"/>
              <a:ext cx="3533775" cy="1752600"/>
              <a:chOff x="3933825" y="1447800"/>
              <a:chExt cx="3533775" cy="1752600"/>
            </a:xfrm>
          </p:grpSpPr>
          <p:sp>
            <p:nvSpPr>
              <p:cNvPr id="616" name="TextBox 615"/>
              <p:cNvSpPr txBox="1"/>
              <p:nvPr/>
            </p:nvSpPr>
            <p:spPr>
              <a:xfrm>
                <a:off x="4010025" y="1447800"/>
                <a:ext cx="60960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Branch</a:t>
                </a:r>
              </a:p>
            </p:txBody>
          </p:sp>
          <p:cxnSp>
            <p:nvCxnSpPr>
              <p:cNvPr id="617" name="Straight Connector 616"/>
              <p:cNvCxnSpPr/>
              <p:nvPr/>
            </p:nvCxnSpPr>
            <p:spPr>
              <a:xfrm>
                <a:off x="3933825" y="1600200"/>
                <a:ext cx="147637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Connector 620"/>
              <p:cNvCxnSpPr/>
              <p:nvPr/>
            </p:nvCxnSpPr>
            <p:spPr>
              <a:xfrm flipV="1">
                <a:off x="5410200" y="1600200"/>
                <a:ext cx="0" cy="533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" name="Straight Connector 624"/>
              <p:cNvCxnSpPr/>
              <p:nvPr/>
            </p:nvCxnSpPr>
            <p:spPr>
              <a:xfrm>
                <a:off x="5410200" y="2133600"/>
                <a:ext cx="1752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Straight Connector 628"/>
              <p:cNvCxnSpPr/>
              <p:nvPr/>
            </p:nvCxnSpPr>
            <p:spPr>
              <a:xfrm>
                <a:off x="7162800" y="3200400"/>
                <a:ext cx="304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" name="Straight Connector 631"/>
              <p:cNvCxnSpPr/>
              <p:nvPr/>
            </p:nvCxnSpPr>
            <p:spPr>
              <a:xfrm>
                <a:off x="7162800" y="2133600"/>
                <a:ext cx="0" cy="1066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2" name="Oval 291"/>
            <p:cNvSpPr/>
            <p:nvPr/>
          </p:nvSpPr>
          <p:spPr>
            <a:xfrm>
              <a:off x="7140568" y="2564137"/>
              <a:ext cx="45719" cy="45719"/>
            </a:xfrm>
            <a:prstGeom prst="ellipse">
              <a:avLst/>
            </a:prstGeom>
            <a:solidFill>
              <a:schemeClr val="accent1"/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293" name="Straight Connector 292"/>
            <p:cNvCxnSpPr/>
            <p:nvPr/>
          </p:nvCxnSpPr>
          <p:spPr>
            <a:xfrm>
              <a:off x="7162800" y="2895600"/>
              <a:ext cx="152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/>
          </p:nvCxnSpPr>
          <p:spPr>
            <a:xfrm>
              <a:off x="7162800" y="2590800"/>
              <a:ext cx="152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 descr="C:\Users\julio\Downloads\OR_Logic_Gate_symbol_with_truth_table_480x480-696878493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6042" t="26481" r="63958" b="37963"/>
          <a:stretch>
            <a:fillRect/>
          </a:stretch>
        </p:blipFill>
        <p:spPr bwMode="auto">
          <a:xfrm>
            <a:off x="8090576" y="2618192"/>
            <a:ext cx="304800" cy="406400"/>
          </a:xfrm>
          <a:prstGeom prst="rect">
            <a:avLst/>
          </a:prstGeom>
          <a:noFill/>
        </p:spPr>
      </p:pic>
      <p:grpSp>
        <p:nvGrpSpPr>
          <p:cNvPr id="332" name="Group 331"/>
          <p:cNvGrpSpPr/>
          <p:nvPr/>
        </p:nvGrpSpPr>
        <p:grpSpPr>
          <a:xfrm>
            <a:off x="8153422" y="1477430"/>
            <a:ext cx="304799" cy="1341970"/>
            <a:chOff x="8153422" y="1477430"/>
            <a:chExt cx="304799" cy="1341970"/>
          </a:xfrm>
        </p:grpSpPr>
        <p:grpSp>
          <p:nvGrpSpPr>
            <p:cNvPr id="199" name="Group 198"/>
            <p:cNvGrpSpPr/>
            <p:nvPr/>
          </p:nvGrpSpPr>
          <p:grpSpPr>
            <a:xfrm>
              <a:off x="8153422" y="1477430"/>
              <a:ext cx="304799" cy="1037168"/>
              <a:chOff x="7723913" y="1390929"/>
              <a:chExt cx="83127" cy="676416"/>
            </a:xfrm>
          </p:grpSpPr>
          <p:cxnSp>
            <p:nvCxnSpPr>
              <p:cNvPr id="178" name="Straight Connector 177"/>
              <p:cNvCxnSpPr/>
              <p:nvPr/>
            </p:nvCxnSpPr>
            <p:spPr>
              <a:xfrm flipH="1">
                <a:off x="7723913" y="1390929"/>
                <a:ext cx="4" cy="676416"/>
              </a:xfrm>
              <a:prstGeom prst="line">
                <a:avLst/>
              </a:prstGeom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/>
              <p:cNvCxnSpPr/>
              <p:nvPr/>
            </p:nvCxnSpPr>
            <p:spPr>
              <a:xfrm>
                <a:off x="7723913" y="2067345"/>
                <a:ext cx="83127" cy="0"/>
              </a:xfrm>
              <a:prstGeom prst="line">
                <a:avLst/>
              </a:prstGeom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5" name="Straight Connector 314"/>
            <p:cNvCxnSpPr/>
            <p:nvPr/>
          </p:nvCxnSpPr>
          <p:spPr>
            <a:xfrm>
              <a:off x="8458200" y="2514600"/>
              <a:ext cx="0" cy="30480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/>
          </p:nvCxnSpPr>
          <p:spPr>
            <a:xfrm>
              <a:off x="8382000" y="2819400"/>
              <a:ext cx="7620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" name="Group 346"/>
          <p:cNvGrpSpPr/>
          <p:nvPr/>
        </p:nvGrpSpPr>
        <p:grpSpPr>
          <a:xfrm>
            <a:off x="7620000" y="2611444"/>
            <a:ext cx="533400" cy="131756"/>
            <a:chOff x="7620000" y="2611444"/>
            <a:chExt cx="533400" cy="131756"/>
          </a:xfrm>
        </p:grpSpPr>
        <p:grpSp>
          <p:nvGrpSpPr>
            <p:cNvPr id="344" name="Group 343"/>
            <p:cNvGrpSpPr/>
            <p:nvPr/>
          </p:nvGrpSpPr>
          <p:grpSpPr>
            <a:xfrm>
              <a:off x="7620000" y="2611444"/>
              <a:ext cx="381000" cy="131756"/>
              <a:chOff x="7620000" y="2588036"/>
              <a:chExt cx="381000" cy="131756"/>
            </a:xfrm>
          </p:grpSpPr>
          <p:cxnSp>
            <p:nvCxnSpPr>
              <p:cNvPr id="333" name="Straight Connector 332"/>
              <p:cNvCxnSpPr/>
              <p:nvPr/>
            </p:nvCxnSpPr>
            <p:spPr>
              <a:xfrm>
                <a:off x="7620000" y="2588036"/>
                <a:ext cx="381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/>
              <p:cNvCxnSpPr/>
              <p:nvPr/>
            </p:nvCxnSpPr>
            <p:spPr>
              <a:xfrm>
                <a:off x="8001000" y="2590800"/>
                <a:ext cx="0" cy="1289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1" name="Straight Connector 340"/>
            <p:cNvCxnSpPr/>
            <p:nvPr/>
          </p:nvCxnSpPr>
          <p:spPr>
            <a:xfrm>
              <a:off x="8001000" y="2743200"/>
              <a:ext cx="152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8" name="Group 347"/>
          <p:cNvGrpSpPr/>
          <p:nvPr/>
        </p:nvGrpSpPr>
        <p:grpSpPr>
          <a:xfrm flipV="1">
            <a:off x="7543800" y="2819375"/>
            <a:ext cx="609600" cy="104645"/>
            <a:chOff x="7535440" y="2614176"/>
            <a:chExt cx="609600" cy="177142"/>
          </a:xfrm>
        </p:grpSpPr>
        <p:grpSp>
          <p:nvGrpSpPr>
            <p:cNvPr id="349" name="Group 343"/>
            <p:cNvGrpSpPr/>
            <p:nvPr/>
          </p:nvGrpSpPr>
          <p:grpSpPr>
            <a:xfrm>
              <a:off x="7535440" y="2614176"/>
              <a:ext cx="457200" cy="177114"/>
              <a:chOff x="7535440" y="2590768"/>
              <a:chExt cx="457200" cy="177114"/>
            </a:xfrm>
          </p:grpSpPr>
          <p:cxnSp>
            <p:nvCxnSpPr>
              <p:cNvPr id="351" name="Straight Connector 350"/>
              <p:cNvCxnSpPr/>
              <p:nvPr/>
            </p:nvCxnSpPr>
            <p:spPr>
              <a:xfrm>
                <a:off x="7535440" y="2590768"/>
                <a:ext cx="4572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Straight Connector 351"/>
              <p:cNvCxnSpPr/>
              <p:nvPr/>
            </p:nvCxnSpPr>
            <p:spPr>
              <a:xfrm>
                <a:off x="7992640" y="2591980"/>
                <a:ext cx="0" cy="1759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0" name="Straight Connector 349"/>
            <p:cNvCxnSpPr/>
            <p:nvPr/>
          </p:nvCxnSpPr>
          <p:spPr>
            <a:xfrm flipV="1">
              <a:off x="7992640" y="2791318"/>
              <a:ext cx="152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/>
          <p:cNvGrpSpPr/>
          <p:nvPr/>
        </p:nvGrpSpPr>
        <p:grpSpPr>
          <a:xfrm flipV="1">
            <a:off x="7696200" y="2895597"/>
            <a:ext cx="457200" cy="333226"/>
            <a:chOff x="7535440" y="2614202"/>
            <a:chExt cx="457200" cy="564079"/>
          </a:xfrm>
        </p:grpSpPr>
        <p:grpSp>
          <p:nvGrpSpPr>
            <p:cNvPr id="364" name="Group 343"/>
            <p:cNvGrpSpPr/>
            <p:nvPr/>
          </p:nvGrpSpPr>
          <p:grpSpPr>
            <a:xfrm>
              <a:off x="7535440" y="2614202"/>
              <a:ext cx="381000" cy="564076"/>
              <a:chOff x="7535440" y="2590794"/>
              <a:chExt cx="381000" cy="564076"/>
            </a:xfrm>
          </p:grpSpPr>
          <p:cxnSp>
            <p:nvCxnSpPr>
              <p:cNvPr id="366" name="Straight Connector 365"/>
              <p:cNvCxnSpPr/>
              <p:nvPr/>
            </p:nvCxnSpPr>
            <p:spPr>
              <a:xfrm flipV="1">
                <a:off x="7535440" y="2590794"/>
                <a:ext cx="381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/>
              <p:cNvCxnSpPr/>
              <p:nvPr/>
            </p:nvCxnSpPr>
            <p:spPr>
              <a:xfrm>
                <a:off x="7916440" y="2591999"/>
                <a:ext cx="0" cy="56287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5" name="Straight Connector 364"/>
            <p:cNvCxnSpPr/>
            <p:nvPr/>
          </p:nvCxnSpPr>
          <p:spPr>
            <a:xfrm flipV="1">
              <a:off x="7916440" y="3178281"/>
              <a:ext cx="76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3" name="Group 302"/>
          <p:cNvGrpSpPr/>
          <p:nvPr/>
        </p:nvGrpSpPr>
        <p:grpSpPr>
          <a:xfrm>
            <a:off x="7313612" y="2514600"/>
            <a:ext cx="287332" cy="206829"/>
            <a:chOff x="7313612" y="2514600"/>
            <a:chExt cx="287332" cy="206829"/>
          </a:xfrm>
        </p:grpSpPr>
        <p:sp>
          <p:nvSpPr>
            <p:cNvPr id="231" name="Flowchart: Delay 230"/>
            <p:cNvSpPr/>
            <p:nvPr/>
          </p:nvSpPr>
          <p:spPr>
            <a:xfrm>
              <a:off x="7372344" y="2514600"/>
              <a:ext cx="228600" cy="206829"/>
            </a:xfrm>
            <a:prstGeom prst="flowChartDelay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Oval 259"/>
            <p:cNvSpPr/>
            <p:nvPr/>
          </p:nvSpPr>
          <p:spPr>
            <a:xfrm>
              <a:off x="7313612" y="2570156"/>
              <a:ext cx="45719" cy="45719"/>
            </a:xfrm>
            <a:prstGeom prst="ellipse">
              <a:avLst/>
            </a:prstGeom>
            <a:noFill/>
            <a:ln w="31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Oval 263"/>
            <p:cNvSpPr/>
            <p:nvPr/>
          </p:nvSpPr>
          <p:spPr>
            <a:xfrm>
              <a:off x="7315200" y="2646356"/>
              <a:ext cx="45719" cy="45719"/>
            </a:xfrm>
            <a:prstGeom prst="ellipse">
              <a:avLst/>
            </a:prstGeom>
            <a:noFill/>
            <a:ln w="31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6" name="Group 275"/>
          <p:cNvGrpSpPr/>
          <p:nvPr/>
        </p:nvGrpSpPr>
        <p:grpSpPr>
          <a:xfrm>
            <a:off x="3048000" y="4267200"/>
            <a:ext cx="381000" cy="914400"/>
            <a:chOff x="5677986" y="3048000"/>
            <a:chExt cx="418014" cy="914400"/>
          </a:xfrm>
        </p:grpSpPr>
        <p:sp>
          <p:nvSpPr>
            <p:cNvPr id="294" name="Flowchart: Terminator 293"/>
            <p:cNvSpPr/>
            <p:nvPr/>
          </p:nvSpPr>
          <p:spPr>
            <a:xfrm rot="5400000">
              <a:off x="5448300" y="3314700"/>
              <a:ext cx="914400" cy="381000"/>
            </a:xfrm>
            <a:prstGeom prst="flowChartTerminator">
              <a:avLst/>
            </a:prstGeom>
            <a:noFill/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M</a:t>
              </a:r>
            </a:p>
            <a:p>
              <a:pPr algn="ctr"/>
              <a:r>
                <a:rPr lang="en-US" sz="1000" dirty="0">
                  <a:solidFill>
                    <a:schemeClr val="bg2">
                      <a:lumMod val="75000"/>
                    </a:schemeClr>
                  </a:solidFill>
                </a:rPr>
                <a:t>u</a:t>
              </a:r>
              <a:endParaRPr lang="en-US" sz="1000" dirty="0" smtClean="0">
                <a:solidFill>
                  <a:schemeClr val="bg2">
                    <a:lumMod val="75000"/>
                  </a:schemeClr>
                </a:solidFill>
              </a:endParaRPr>
            </a:p>
            <a:p>
              <a:pPr algn="ctr"/>
              <a:r>
                <a:rPr lang="en-US" sz="1000" dirty="0" smtClean="0">
                  <a:solidFill>
                    <a:schemeClr val="bg2">
                      <a:lumMod val="75000"/>
                    </a:schemeClr>
                  </a:solidFill>
                </a:rPr>
                <a:t>x</a:t>
              </a:r>
              <a:endParaRPr lang="en-US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5677986" y="3158982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/>
                <a:t>0</a:t>
              </a:r>
              <a:endParaRPr lang="en-US" sz="900" dirty="0"/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5677986" y="3657600"/>
              <a:ext cx="2286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1</a:t>
              </a:r>
            </a:p>
          </p:txBody>
        </p:sp>
      </p:grpSp>
      <p:grpSp>
        <p:nvGrpSpPr>
          <p:cNvPr id="306" name="Group 305"/>
          <p:cNvGrpSpPr/>
          <p:nvPr/>
        </p:nvGrpSpPr>
        <p:grpSpPr>
          <a:xfrm>
            <a:off x="2209800" y="2590800"/>
            <a:ext cx="1676400" cy="2667000"/>
            <a:chOff x="2209800" y="2590800"/>
            <a:chExt cx="1676400" cy="2667000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3276600" y="5181600"/>
              <a:ext cx="0" cy="7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2209800" y="5257800"/>
              <a:ext cx="1066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/>
          </p:nvCxnSpPr>
          <p:spPr>
            <a:xfrm>
              <a:off x="2209800" y="2895600"/>
              <a:ext cx="0" cy="2362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2209800" y="2895600"/>
              <a:ext cx="16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 flipV="1">
              <a:off x="3810000" y="2590800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TextBox 312"/>
            <p:cNvSpPr txBox="1"/>
            <p:nvPr/>
          </p:nvSpPr>
          <p:spPr>
            <a:xfrm>
              <a:off x="3429000" y="2847945"/>
              <a:ext cx="4572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RegDst</a:t>
              </a:r>
              <a:endParaRPr lang="en-US" sz="700" dirty="0" smtClean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314" name="Group 313"/>
          <p:cNvGrpSpPr/>
          <p:nvPr/>
        </p:nvGrpSpPr>
        <p:grpSpPr>
          <a:xfrm>
            <a:off x="3429000" y="4267200"/>
            <a:ext cx="457200" cy="457200"/>
            <a:chOff x="3429000" y="4267200"/>
            <a:chExt cx="457200" cy="457200"/>
          </a:xfrm>
        </p:grpSpPr>
        <p:cxnSp>
          <p:nvCxnSpPr>
            <p:cNvPr id="316" name="Straight Arrow Connector 315"/>
            <p:cNvCxnSpPr/>
            <p:nvPr/>
          </p:nvCxnSpPr>
          <p:spPr>
            <a:xfrm>
              <a:off x="3581400" y="4267200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/>
          </p:nvCxnSpPr>
          <p:spPr>
            <a:xfrm>
              <a:off x="3429000" y="4724400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/>
          </p:nvCxnSpPr>
          <p:spPr>
            <a:xfrm>
              <a:off x="3581400" y="4267200"/>
              <a:ext cx="0" cy="457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/>
          <p:cNvGrpSpPr/>
          <p:nvPr/>
        </p:nvGrpSpPr>
        <p:grpSpPr>
          <a:xfrm>
            <a:off x="1958975" y="914400"/>
            <a:ext cx="3756025" cy="5290066"/>
            <a:chOff x="1958975" y="914400"/>
            <a:chExt cx="3756025" cy="5290066"/>
          </a:xfrm>
        </p:grpSpPr>
        <p:grpSp>
          <p:nvGrpSpPr>
            <p:cNvPr id="327" name="Group 326"/>
            <p:cNvGrpSpPr/>
            <p:nvPr/>
          </p:nvGrpSpPr>
          <p:grpSpPr>
            <a:xfrm>
              <a:off x="1958975" y="914400"/>
              <a:ext cx="3756025" cy="5290066"/>
              <a:chOff x="1958975" y="914400"/>
              <a:chExt cx="3756025" cy="5290066"/>
            </a:xfrm>
          </p:grpSpPr>
          <p:grpSp>
            <p:nvGrpSpPr>
              <p:cNvPr id="552" name="Group 551"/>
              <p:cNvGrpSpPr/>
              <p:nvPr/>
            </p:nvGrpSpPr>
            <p:grpSpPr>
              <a:xfrm>
                <a:off x="1958975" y="914400"/>
                <a:ext cx="3756025" cy="5290066"/>
                <a:chOff x="1958975" y="914400"/>
                <a:chExt cx="3756025" cy="5290066"/>
              </a:xfrm>
            </p:grpSpPr>
            <p:grpSp>
              <p:nvGrpSpPr>
                <p:cNvPr id="517" name="Group 516"/>
                <p:cNvGrpSpPr/>
                <p:nvPr/>
              </p:nvGrpSpPr>
              <p:grpSpPr>
                <a:xfrm>
                  <a:off x="1958975" y="914400"/>
                  <a:ext cx="2384425" cy="4726927"/>
                  <a:chOff x="1958975" y="914400"/>
                  <a:chExt cx="2384425" cy="4726927"/>
                </a:xfrm>
              </p:grpSpPr>
              <p:grpSp>
                <p:nvGrpSpPr>
                  <p:cNvPr id="495" name="Group 494"/>
                  <p:cNvGrpSpPr/>
                  <p:nvPr/>
                </p:nvGrpSpPr>
                <p:grpSpPr>
                  <a:xfrm>
                    <a:off x="1958975" y="914400"/>
                    <a:ext cx="2384425" cy="4726927"/>
                    <a:chOff x="1958975" y="914400"/>
                    <a:chExt cx="2384425" cy="4726927"/>
                  </a:xfrm>
                </p:grpSpPr>
                <p:grpSp>
                  <p:nvGrpSpPr>
                    <p:cNvPr id="491" name="Group 490"/>
                    <p:cNvGrpSpPr/>
                    <p:nvPr/>
                  </p:nvGrpSpPr>
                  <p:grpSpPr>
                    <a:xfrm>
                      <a:off x="1958975" y="914400"/>
                      <a:ext cx="2384425" cy="4726927"/>
                      <a:chOff x="1958975" y="914400"/>
                      <a:chExt cx="2384425" cy="4726927"/>
                    </a:xfrm>
                  </p:grpSpPr>
                  <p:grpSp>
                    <p:nvGrpSpPr>
                      <p:cNvPr id="345" name="Group 344"/>
                      <p:cNvGrpSpPr/>
                      <p:nvPr/>
                    </p:nvGrpSpPr>
                    <p:grpSpPr>
                      <a:xfrm>
                        <a:off x="1958975" y="914400"/>
                        <a:ext cx="2384425" cy="4726927"/>
                        <a:chOff x="1958975" y="914400"/>
                        <a:chExt cx="2384425" cy="4726927"/>
                      </a:xfrm>
                    </p:grpSpPr>
                    <p:cxnSp>
                      <p:nvCxnSpPr>
                        <p:cNvPr id="286" name="Straight Arrow Connector 285"/>
                        <p:cNvCxnSpPr/>
                        <p:nvPr/>
                      </p:nvCxnSpPr>
                      <p:spPr>
                        <a:xfrm>
                          <a:off x="2286000" y="1905000"/>
                          <a:ext cx="609600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arrow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9" name="Straight Connector 288"/>
                        <p:cNvCxnSpPr/>
                        <p:nvPr/>
                      </p:nvCxnSpPr>
                      <p:spPr>
                        <a:xfrm>
                          <a:off x="2286000" y="914400"/>
                          <a:ext cx="0" cy="441960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6" name="Straight Arrow Connector 295"/>
                        <p:cNvCxnSpPr/>
                        <p:nvPr/>
                      </p:nvCxnSpPr>
                      <p:spPr>
                        <a:xfrm>
                          <a:off x="2286000" y="5334000"/>
                          <a:ext cx="2057400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arrow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8" name="Straight Connector 297"/>
                        <p:cNvCxnSpPr/>
                        <p:nvPr/>
                      </p:nvCxnSpPr>
                      <p:spPr>
                        <a:xfrm flipV="1">
                          <a:off x="4049490" y="5257800"/>
                          <a:ext cx="152400" cy="15240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99" name="TextBox 298"/>
                        <p:cNvSpPr txBox="1"/>
                        <p:nvPr/>
                      </p:nvSpPr>
                      <p:spPr>
                        <a:xfrm>
                          <a:off x="3962400" y="5379717"/>
                          <a:ext cx="381000" cy="261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100" dirty="0" smtClean="0"/>
                            <a:t>6</a:t>
                          </a:r>
                          <a:endParaRPr lang="en-US" sz="1050" dirty="0"/>
                        </a:p>
                      </p:txBody>
                    </p:sp>
                    <p:sp>
                      <p:nvSpPr>
                        <p:cNvPr id="300" name="TextBox 299"/>
                        <p:cNvSpPr txBox="1"/>
                        <p:nvPr/>
                      </p:nvSpPr>
                      <p:spPr>
                        <a:xfrm>
                          <a:off x="2743200" y="5334000"/>
                          <a:ext cx="990600" cy="184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r"/>
                          <a:r>
                            <a:rPr lang="en-US" sz="600" dirty="0" smtClean="0"/>
                            <a:t>Instruction [5-0]</a:t>
                          </a:r>
                          <a:endParaRPr lang="en-US" sz="600" dirty="0"/>
                        </a:p>
                      </p:txBody>
                    </p:sp>
                    <p:cxnSp>
                      <p:nvCxnSpPr>
                        <p:cNvPr id="302" name="Straight Arrow Connector 301"/>
                        <p:cNvCxnSpPr/>
                        <p:nvPr/>
                      </p:nvCxnSpPr>
                      <p:spPr>
                        <a:xfrm>
                          <a:off x="2286000" y="4997450"/>
                          <a:ext cx="784225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arrow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11" name="Straight Connector 310"/>
                        <p:cNvCxnSpPr/>
                        <p:nvPr/>
                      </p:nvCxnSpPr>
                      <p:spPr>
                        <a:xfrm flipH="1">
                          <a:off x="2133600" y="4191000"/>
                          <a:ext cx="152400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20" name="TextBox 319"/>
                        <p:cNvSpPr txBox="1"/>
                        <p:nvPr/>
                      </p:nvSpPr>
                      <p:spPr>
                        <a:xfrm>
                          <a:off x="1981200" y="4965184"/>
                          <a:ext cx="990600" cy="184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r"/>
                          <a:r>
                            <a:rPr lang="en-US" sz="600" dirty="0" smtClean="0"/>
                            <a:t>Instruction </a:t>
                          </a:r>
                          <a:r>
                            <a:rPr lang="en-US" sz="600" dirty="0" smtClean="0"/>
                            <a:t>[</a:t>
                          </a:r>
                          <a:r>
                            <a:rPr lang="en-US" sz="600" dirty="0" smtClean="0"/>
                            <a:t>5</a:t>
                          </a:r>
                          <a:r>
                            <a:rPr lang="en-US" sz="600" dirty="0" smtClean="0"/>
                            <a:t>-3]</a:t>
                          </a:r>
                          <a:endParaRPr lang="en-US" sz="600" dirty="0"/>
                        </a:p>
                      </p:txBody>
                    </p:sp>
                    <p:cxnSp>
                      <p:nvCxnSpPr>
                        <p:cNvPr id="325" name="Straight Arrow Connector 324"/>
                        <p:cNvCxnSpPr/>
                        <p:nvPr/>
                      </p:nvCxnSpPr>
                      <p:spPr>
                        <a:xfrm>
                          <a:off x="2286000" y="3352800"/>
                          <a:ext cx="1600200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arrow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26" name="TextBox 325"/>
                        <p:cNvSpPr txBox="1"/>
                        <p:nvPr/>
                      </p:nvSpPr>
                      <p:spPr>
                        <a:xfrm>
                          <a:off x="2819400" y="3314697"/>
                          <a:ext cx="990600" cy="184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r"/>
                          <a:r>
                            <a:rPr lang="en-US" sz="600" dirty="0" smtClean="0"/>
                            <a:t>Instruction </a:t>
                          </a:r>
                          <a:r>
                            <a:rPr lang="en-US" sz="600" dirty="0" smtClean="0"/>
                            <a:t>[11-9]</a:t>
                          </a:r>
                          <a:endParaRPr lang="en-US" sz="600" dirty="0"/>
                        </a:p>
                      </p:txBody>
                    </p:sp>
                    <p:cxnSp>
                      <p:nvCxnSpPr>
                        <p:cNvPr id="335" name="Straight Arrow Connector 334"/>
                        <p:cNvCxnSpPr/>
                        <p:nvPr/>
                      </p:nvCxnSpPr>
                      <p:spPr>
                        <a:xfrm>
                          <a:off x="2286000" y="3848103"/>
                          <a:ext cx="1600200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arrow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36" name="TextBox 335"/>
                        <p:cNvSpPr txBox="1"/>
                        <p:nvPr/>
                      </p:nvSpPr>
                      <p:spPr>
                        <a:xfrm>
                          <a:off x="1958975" y="3810000"/>
                          <a:ext cx="990600" cy="1846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r"/>
                          <a:r>
                            <a:rPr lang="en-US" sz="600" dirty="0" smtClean="0"/>
                            <a:t>Instruction </a:t>
                          </a:r>
                          <a:r>
                            <a:rPr lang="en-US" sz="600" dirty="0" smtClean="0"/>
                            <a:t>[8-6]</a:t>
                          </a:r>
                          <a:endParaRPr lang="en-US" sz="600" dirty="0"/>
                        </a:p>
                      </p:txBody>
                    </p:sp>
                  </p:grpSp>
                  <p:sp>
                    <p:nvSpPr>
                      <p:cNvPr id="490" name="Oval 489"/>
                      <p:cNvSpPr/>
                      <p:nvPr/>
                    </p:nvSpPr>
                    <p:spPr>
                      <a:xfrm>
                        <a:off x="2266944" y="3325828"/>
                        <a:ext cx="45719" cy="45719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492" name="Oval 491"/>
                    <p:cNvSpPr/>
                    <p:nvPr/>
                  </p:nvSpPr>
                  <p:spPr>
                    <a:xfrm>
                      <a:off x="2265356" y="3822704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516" name="Oval 515"/>
                  <p:cNvSpPr/>
                  <p:nvPr/>
                </p:nvSpPr>
                <p:spPr>
                  <a:xfrm>
                    <a:off x="2263768" y="4167180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519" name="Straight Arrow Connector 518"/>
                <p:cNvCxnSpPr/>
                <p:nvPr/>
              </p:nvCxnSpPr>
              <p:spPr>
                <a:xfrm>
                  <a:off x="3886200" y="6019800"/>
                  <a:ext cx="18288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5" name="Oval 524"/>
                <p:cNvSpPr/>
                <p:nvPr/>
              </p:nvSpPr>
              <p:spPr>
                <a:xfrm>
                  <a:off x="3865556" y="530574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21" name="Straight Connector 520"/>
                <p:cNvCxnSpPr/>
                <p:nvPr/>
              </p:nvCxnSpPr>
              <p:spPr>
                <a:xfrm flipV="1">
                  <a:off x="3886200" y="5334000"/>
                  <a:ext cx="0" cy="6858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1" name="TextBox 550"/>
                <p:cNvSpPr txBox="1"/>
                <p:nvPr/>
              </p:nvSpPr>
              <p:spPr>
                <a:xfrm>
                  <a:off x="4114800" y="6019800"/>
                  <a:ext cx="762000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600" dirty="0" smtClean="0"/>
                    <a:t>Instruction [2-0]</a:t>
                  </a:r>
                  <a:endParaRPr lang="en-US" sz="600" dirty="0"/>
                </a:p>
              </p:txBody>
            </p:sp>
          </p:grpSp>
          <p:sp>
            <p:nvSpPr>
              <p:cNvPr id="324" name="Oval 323"/>
              <p:cNvSpPr/>
              <p:nvPr/>
            </p:nvSpPr>
            <p:spPr>
              <a:xfrm>
                <a:off x="2266950" y="497395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30" name="Straight Arrow Connector 329"/>
            <p:cNvCxnSpPr/>
            <p:nvPr/>
          </p:nvCxnSpPr>
          <p:spPr>
            <a:xfrm>
              <a:off x="2895600" y="4495800"/>
              <a:ext cx="1682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/>
          </p:nvCxnSpPr>
          <p:spPr>
            <a:xfrm>
              <a:off x="2895600" y="3844925"/>
              <a:ext cx="0" cy="6508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Oval 345"/>
            <p:cNvSpPr/>
            <p:nvPr/>
          </p:nvSpPr>
          <p:spPr>
            <a:xfrm>
              <a:off x="2876550" y="3829050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120</Words>
  <Application>Microsoft Office PowerPoint</Application>
  <PresentationFormat>On-screen Show (4:3)</PresentationFormat>
  <Paragraphs>76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 R</dc:creator>
  <cp:lastModifiedBy>J R</cp:lastModifiedBy>
  <cp:revision>71</cp:revision>
  <dcterms:created xsi:type="dcterms:W3CDTF">2025-10-27T13:36:23Z</dcterms:created>
  <dcterms:modified xsi:type="dcterms:W3CDTF">2025-11-16T20:06:02Z</dcterms:modified>
</cp:coreProperties>
</file>